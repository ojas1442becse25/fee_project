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evaluators. Today I am presenting AVENZA, an intelligent Career Discovery and Recommendation platform designed to help students discover the most suitable professional paths based on their true academic strengths and interests. This presentation marks our First Project Based Evaluation. Over the next 15 minutes, I will walk you through the problem we are addressing, the complete working frontend solution we have engineered in React, its technical architecture, and our clear roadmap for the upcoming two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year, millions of students reach grade 10, 12, or college without a clear direction. They face four major challenges: first, massive information overload with hundreds of career paths available; second, a complete lack of tools to assess personal aptitude; third, high levels of external peer and parental pressure; and fourth, fragmented data where salary, difficulty, and skill requirements are scattered everywhere. Our core conviction with AVENZA is that career selection must be a structured, data-driven journey of self-discovery.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AVENZA solves this dilemma through a structured 5-step funnel. First, the student inputs their baseline education and academic stream. Second, our interactive assessment captures their interests, cognitive strengths, and long-term goals. Third, the profile is analyzed. Fourth, our recommendation engine evaluates compatibility against curated career profiles. Finally, the student receives personalized recommendations. The key differentiators are complete match score transparency, comprehensive 360-degree career intelligence, and a persistent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functional overview of our React Single Page Application. It is structured into six core areas: The Landing page provides an engaging entrance; the Informational suite covers our About page, Features, and an interactive FAQ; the Career Discovery Engine hosts our 6-step assessment; the Recommendation Results page presents ranked matches; the User Dashboard gives authenticated students a secure hub; and our Routing layer handles authentication guards and 404 fallbacks.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complete user journey pipeline. The student lands on our homepage, enters the Career Discovery wizard, and moves through 6 validated steps. Upon submission, they inspect ranked results and dynamic career detail pages. They can bookmark careers to their dashboard. Notice our key UX decision: zero-barrier onboarding. We let students experience the core value first without demanding a login upfront. All state is automatically mirrored in localStorage so no progress is ever lost on refresh.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examine the 6 steps of the assessment wizard in detail. Step 1 collects demographics and education level with auto-focus; Step 2 captures academic stream and marks using a dual-bound slider and numeric input; Step 3 presents 15 curated domain chips; Step 4 assesses 9 cognitive abilities and 8 work-style preferences; Step 5 identifies career priorities like salary or work-life balance; and Step 6 provides an instant summary for verification before triggering the matching engine. Each step enforces strict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the engineering behind our interactive wizard. Every input is a controlled React component. The progress bar calculates progress dynamically. The stream options are rendered with clean responsive flex layout. The slider uses two-way data binding with a numeric field, so updating either input updates the shared state. Finally, the continue button is gated: users cannot proceed to the next step without completing mandatory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show our recommendation logic implemented in careerMatcher.js. It is a deterministic, weighted scoring algorithm. Domain interests carry 35% weight; academic stream alignment carries 25%; cognitive strengths carry 20%; academic marks carry 10%; and career priorities carry 10%. The algorithm iterates through our catalog, normalizes scores from 0 to 100%, generates a personalized justification, and sorts the output descending. This ensures transparent recommendations without any black-box mystery.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recommendations are generated, the user sees a rich Career Card Pro component. On the right, you see our UI mockup. It includes a circular progress indicator showing the match percentage, key attributes like salary range and growth outlook, required skills chips, and most importantly, a personalized justification sentence explaining why the career was selected. The student can immediately bookmark this career into their dashboard or click through for full curriculum details.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 user logs in, they access the User Dashboard. This acts as their personal career command center. It provides quick statistics on saved careers, confirms authenticated status, and displays the Career Journey banner driven by their latest assessment data. From here, students can launch the assessment, manage saved roles, update their profile, and read live career insights. It bridges one-time discovery with ongoing planning.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architecture of our React application. We have deliberately structured it into 6 distinct layers: The App and Router layer at the top; the Pages layer representing views; the UI Component library for reusable atomic controls; the Custom Hooks layer containing reusable stateful logic; the Domain Engine and Data layer containing careerMatcher.js; and the Client Persistence layer. This separation of concerns ensures that our code is maintainable, testable, and ready for full-stack expansion.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maps directly to our evaluation criteria by showcasing the React concepts applied in the project. First, core fundamentals including functional components, JSX, and conditional rendering; second, robust form management with controlled inputs and lifting state up; third, performance optimization using useMemo and useCallback to avoid recalculating heavy matching logic; and fourth, custom hooks to extract reusable state logic cleanly.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provide a comprehensive Hooks implementation matrix. In AVENZA, we do not just use useState and useEffect; we use useRef for programmatic DOM auto-focusing and scrolling; useMemo to prevent recomputing career matching unless the profile changes; useCallback for memoized submit handlers; and four custom hooks to keep our components clean and modular.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routing architecture uses React Router v6 to handle every user pathway cleanly. We have public routes under MainLayout; the career assessment and results flow including dynamic routes like career/:careerId; a fully protected nested dashboard layout guarded by ProtectedRoute; and a wildcard 404 fallback. If an unauthenticated user attempts to reach the dashboard directly, they are redirected to login with their intended destination preserved.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persistence is vital for a smooth student experience. In Evaluation 1, we use browser localStorage via our custom hook useLocalStorage. We maintain four well-defined storage keys: avenza_profile, avenza_auth_user, avenza_saved_careers, and avenza_users. Whenever state changes, our hook serializes it into JSON. When the page reloads, lazy initialization hydrates the state seamlessly.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satisfy the asynchronous JavaScript syllabus requirements, we implemented CareerInsight.jsx on the Dashboard. It uses the standard Fetch API and async/await to call a public REST API. Notice our thorough 3-state conditional rendering: we display a spinner during loading; if the network fails, our try/catch block catches the error and displays a retry button; and on success, it renders the quote and author with a button to fetch another quote.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directly proves that AVENZA covers 100% of the prescribed Front-End Engineering syllabus. Under HTML5 and CSS3: semantic tags, responsive flexbox and grid, and glassmorphism. Under modern JavaScript ES6+: arrow functions, spread operators, array methods, localStorage, promises, and async/await. And under React: functional components, state lifting, five core hooks, four custom hooks, and protected routing.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is critical for a technical evaluation. For Evaluation 1, our scope is strictly focused on front-end excellence. We have delivered a full client-side React SPA, browser-based persistence, demo authentication, and rule-based matching. We deliberately do not claim backend or real database capabilities in this milestone. Instead, we have built a rock-solid, bug-free frontend foundation that is ready for full-stack integration in our next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Evaluation 2, our primary goal will be full-stack transformation. We will introduce a Node.js and Express REST backend; integrate MongoDB or PostgreSQL for persistent database storage; replace our demo auth with JWT and bcrypt security; and scale our career taxonomy from 30 careers to over 200 comprehensive job profiles with advanced filtering.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to Evaluation 3, our vision is to evolve AVENZA into an intelligent, AI-augmented career ecosystem. We plan to introduce machine learning vector embeddings for career compatibility; generate dynamic, personalized degree and skill roadmaps; provide live skill-gap analysis comparing a student's skills against current job postings; and connect students with industry mentors. This clear 3-phase journey ensures that every evaluation builds naturally toward a complete final product.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First Evaluation: we have successfully delivered a production-ready UI; an interactive 6-step wizard; a weighted matching algorithm; a protected student dashboard; asynchronous Fetch API integration; and a clean, verified codebase that compiles with zero errors. AVENZA establishes a rock-solid foundation, and we are excited to expand into backend architecture and database systems in Evaluation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respected evaluators, for your time and attention. I am now open to your valuable feedback, questions, and suggestions as we prepare to transition into Evaluation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01828"/>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097280"/>
            <a:ext cx="3108960" cy="32004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6B6D4"/>
                </a:solidFill>
                <a:latin typeface="Segoe UI"/>
              </a:defRPr>
            </a:pPr>
            <a:r>
              <a:t>PROJECT BASED EVALUATION – 1</a:t>
            </a:r>
          </a:p>
        </p:txBody>
      </p:sp>
      <p:sp>
        <p:nvSpPr>
          <p:cNvPr id="5" name="TextBox 4"/>
          <p:cNvSpPr txBox="1"/>
          <p:nvPr/>
        </p:nvSpPr>
        <p:spPr>
          <a:xfrm>
            <a:off x="1188720" y="1508760"/>
            <a:ext cx="9784080" cy="1828800"/>
          </a:xfrm>
          <a:prstGeom prst="rect">
            <a:avLst/>
          </a:prstGeom>
          <a:noFill/>
        </p:spPr>
        <p:txBody>
          <a:bodyPr wrap="square">
            <a:spAutoFit/>
          </a:bodyPr>
          <a:lstStyle/>
          <a:p>
            <a:pPr>
              <a:spcAft>
                <a:spcPts val="600"/>
              </a:spcAft>
              <a:defRPr sz="4600" b="1">
                <a:solidFill>
                  <a:srgbClr val="F8FAFC"/>
                </a:solidFill>
                <a:latin typeface="Segoe UI"/>
              </a:defRPr>
            </a:pPr>
            <a:r>
              <a:t>AVENZA</a:t>
            </a:r>
          </a:p>
          <a:p>
            <a:pPr>
              <a:spcAft>
                <a:spcPts val="800"/>
              </a:spcAft>
              <a:defRPr sz="2000">
                <a:solidFill>
                  <a:srgbClr val="06B6D4"/>
                </a:solidFill>
                <a:latin typeface="Segoe UI"/>
              </a:defRPr>
            </a:pPr>
            <a:r>
              <a:t>Intelligent Career Discovery &amp; Recommendation Platform</a:t>
            </a:r>
          </a:p>
          <a:p>
            <a:pPr>
              <a:defRPr sz="1300">
                <a:solidFill>
                  <a:srgbClr val="94A3B8"/>
                </a:solidFill>
                <a:latin typeface="Segoe UI"/>
              </a:defRPr>
            </a:pPr>
            <a:r>
              <a:t>A modern frontend Single Page Application (SPA) providing multi-step career assessment, algorithmic profile-to-career matching, and persistent portfolio management.</a:t>
            </a:r>
          </a:p>
        </p:txBody>
      </p:sp>
      <p:sp>
        <p:nvSpPr>
          <p:cNvPr id="6" name="Rounded Rectangle 5"/>
          <p:cNvSpPr/>
          <p:nvPr/>
        </p:nvSpPr>
        <p:spPr>
          <a:xfrm>
            <a:off x="1188720" y="3520440"/>
            <a:ext cx="3154680" cy="13716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25880" y="3611880"/>
            <a:ext cx="2880360" cy="1188720"/>
          </a:xfrm>
          <a:prstGeom prst="rect">
            <a:avLst/>
          </a:prstGeom>
          <a:noFill/>
        </p:spPr>
        <p:txBody>
          <a:bodyPr wrap="square">
            <a:spAutoFit/>
          </a:bodyPr>
          <a:lstStyle/>
          <a:p>
            <a:pPr>
              <a:spcAft>
                <a:spcPts val="400"/>
              </a:spcAft>
              <a:defRPr sz="1200" b="1">
                <a:solidFill>
                  <a:srgbClr val="F8FAFC"/>
                </a:solidFill>
                <a:latin typeface="Segoe UI"/>
              </a:defRPr>
            </a:pPr>
            <a:r>
              <a:t>🎯 Multi-Step Assessment</a:t>
            </a:r>
          </a:p>
          <a:p>
            <a:pPr>
              <a:defRPr sz="1000">
                <a:solidFill>
                  <a:srgbClr val="94A3B8"/>
                </a:solidFill>
                <a:latin typeface="Segoe UI"/>
              </a:defRPr>
            </a:pPr>
            <a:r>
              <a:t>6 structured stages evaluating education, academic stream, marks, 15+ domain interests, and cognitive strengths.</a:t>
            </a:r>
          </a:p>
        </p:txBody>
      </p:sp>
      <p:sp>
        <p:nvSpPr>
          <p:cNvPr id="8" name="Rounded Rectangle 7"/>
          <p:cNvSpPr/>
          <p:nvPr/>
        </p:nvSpPr>
        <p:spPr>
          <a:xfrm>
            <a:off x="4526280" y="3520440"/>
            <a:ext cx="3154680" cy="13716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3611880"/>
            <a:ext cx="2880360" cy="1188720"/>
          </a:xfrm>
          <a:prstGeom prst="rect">
            <a:avLst/>
          </a:prstGeom>
          <a:noFill/>
        </p:spPr>
        <p:txBody>
          <a:bodyPr wrap="square">
            <a:spAutoFit/>
          </a:bodyPr>
          <a:lstStyle/>
          <a:p>
            <a:pPr>
              <a:spcAft>
                <a:spcPts val="400"/>
              </a:spcAft>
              <a:defRPr sz="1200" b="1">
                <a:solidFill>
                  <a:srgbClr val="F8FAFC"/>
                </a:solidFill>
                <a:latin typeface="Segoe UI"/>
              </a:defRPr>
            </a:pPr>
            <a:r>
              <a:t>⚡ Algorithmic Match Scoring</a:t>
            </a:r>
          </a:p>
          <a:p>
            <a:pPr>
              <a:defRPr sz="1000">
                <a:solidFill>
                  <a:srgbClr val="94A3B8"/>
                </a:solidFill>
                <a:latin typeface="Segoe UI"/>
              </a:defRPr>
            </a:pPr>
            <a:r>
              <a:t>Weighted rule engine calculating personalized compatibility scores (0-100%) with transparent rationale.</a:t>
            </a:r>
          </a:p>
        </p:txBody>
      </p:sp>
      <p:sp>
        <p:nvSpPr>
          <p:cNvPr id="10" name="Rounded Rectangle 9"/>
          <p:cNvSpPr/>
          <p:nvPr/>
        </p:nvSpPr>
        <p:spPr>
          <a:xfrm>
            <a:off x="7863840" y="3520440"/>
            <a:ext cx="3154680" cy="13716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3611880"/>
            <a:ext cx="2880360" cy="1188720"/>
          </a:xfrm>
          <a:prstGeom prst="rect">
            <a:avLst/>
          </a:prstGeom>
          <a:noFill/>
        </p:spPr>
        <p:txBody>
          <a:bodyPr wrap="square">
            <a:spAutoFit/>
          </a:bodyPr>
          <a:lstStyle/>
          <a:p>
            <a:pPr>
              <a:spcAft>
                <a:spcPts val="400"/>
              </a:spcAft>
              <a:defRPr sz="1200" b="1">
                <a:solidFill>
                  <a:srgbClr val="F8FAFC"/>
                </a:solidFill>
                <a:latin typeface="Segoe UI"/>
              </a:defRPr>
            </a:pPr>
            <a:r>
              <a:t>📊 User Career Hub</a:t>
            </a:r>
          </a:p>
          <a:p>
            <a:pPr>
              <a:defRPr sz="1000">
                <a:solidFill>
                  <a:srgbClr val="94A3B8"/>
                </a:solidFill>
                <a:latin typeface="Segoe UI"/>
              </a:defRPr>
            </a:pPr>
            <a:r>
              <a:t>Dedicated reactive dashboard with saved career bookmarks, profile management, and live career inspiration.</a:t>
            </a:r>
          </a:p>
        </p:txBody>
      </p:sp>
      <p:sp>
        <p:nvSpPr>
          <p:cNvPr id="12" name="TextBox 11"/>
          <p:cNvSpPr txBox="1"/>
          <p:nvPr/>
        </p:nvSpPr>
        <p:spPr>
          <a:xfrm>
            <a:off x="1188720" y="5120640"/>
            <a:ext cx="9784080" cy="731520"/>
          </a:xfrm>
          <a:prstGeom prst="rect">
            <a:avLst/>
          </a:prstGeom>
          <a:noFill/>
        </p:spPr>
        <p:txBody>
          <a:bodyPr wrap="none">
            <a:spAutoFit/>
          </a:bodyPr>
          <a:lstStyle/>
          <a:p>
            <a:pPr>
              <a:defRPr sz="1100">
                <a:solidFill>
                  <a:srgbClr val="64748B"/>
                </a:solidFill>
                <a:latin typeface="Segoe UI"/>
              </a:defRPr>
            </a:pPr>
            <a:r>
              <a:t>Presenter: Student Candidate  |  Degree: B.Tech Computer Science &amp; Engineering (FEE)  |  Milestone: Phase 1 (Frontend &amp; Core Logic)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660904"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CONTEXT &amp; OPPORTUNITY</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The Problem: The Career Confusion Dilemma</a:t>
            </a:r>
          </a:p>
          <a:p>
            <a:pPr>
              <a:defRPr sz="1150">
                <a:solidFill>
                  <a:srgbClr val="94A3B8"/>
                </a:solidFill>
                <a:latin typeface="Segoe UI"/>
              </a:defRPr>
            </a:pPr>
            <a:r>
              <a:t>Students face critical career crossroads with fragmented advice, peer pressure, and cognitive overload.</a:t>
            </a:r>
          </a:p>
        </p:txBody>
      </p:sp>
      <p:sp>
        <p:nvSpPr>
          <p:cNvPr id="5" name="Rounded Rectangle 4"/>
          <p:cNvSpPr/>
          <p:nvPr/>
        </p:nvSpPr>
        <p:spPr>
          <a:xfrm>
            <a:off x="731520" y="1783080"/>
            <a:ext cx="2578608" cy="347472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965960"/>
            <a:ext cx="502920" cy="502920"/>
          </a:xfrm>
          <a:prstGeom prst="ellipse">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latin typeface="Segoe UI"/>
              </a:defRPr>
            </a:pPr>
            <a:r>
              <a:t>01</a:t>
            </a:r>
          </a:p>
        </p:txBody>
      </p:sp>
      <p:sp>
        <p:nvSpPr>
          <p:cNvPr id="7" name="TextBox 6"/>
          <p:cNvSpPr txBox="1"/>
          <p:nvPr/>
        </p:nvSpPr>
        <p:spPr>
          <a:xfrm>
            <a:off x="914400" y="2606040"/>
            <a:ext cx="2212848" cy="2468880"/>
          </a:xfrm>
          <a:prstGeom prst="rect">
            <a:avLst/>
          </a:prstGeom>
          <a:noFill/>
        </p:spPr>
        <p:txBody>
          <a:bodyPr wrap="square">
            <a:spAutoFit/>
          </a:bodyPr>
          <a:lstStyle/>
          <a:p>
            <a:pPr>
              <a:spcAft>
                <a:spcPts val="800"/>
              </a:spcAft>
              <a:defRPr sz="1400" b="1">
                <a:solidFill>
                  <a:srgbClr val="F8FAFC"/>
                </a:solidFill>
                <a:latin typeface="Segoe UI"/>
              </a:defRPr>
            </a:pPr>
            <a:r>
              <a:t>Information Overload</a:t>
            </a:r>
          </a:p>
          <a:p>
            <a:pPr>
              <a:defRPr sz="1100">
                <a:solidFill>
                  <a:srgbClr val="94A3B8"/>
                </a:solidFill>
                <a:latin typeface="Segoe UI"/>
              </a:defRPr>
            </a:pPr>
            <a:r>
              <a:t>Over 300+ modern professional domains exist today, yet high school and college students lack structured filters to explore viable options systematically.</a:t>
            </a:r>
          </a:p>
        </p:txBody>
      </p:sp>
      <p:sp>
        <p:nvSpPr>
          <p:cNvPr id="8" name="Rounded Rectangle 7"/>
          <p:cNvSpPr/>
          <p:nvPr/>
        </p:nvSpPr>
        <p:spPr>
          <a:xfrm>
            <a:off x="3456432" y="1783080"/>
            <a:ext cx="2578608" cy="347472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39312" y="1965960"/>
            <a:ext cx="502920" cy="502920"/>
          </a:xfrm>
          <a:prstGeom prst="ellipse">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latin typeface="Segoe UI"/>
              </a:defRPr>
            </a:pPr>
            <a:r>
              <a:t>02</a:t>
            </a:r>
          </a:p>
        </p:txBody>
      </p:sp>
      <p:sp>
        <p:nvSpPr>
          <p:cNvPr id="10" name="TextBox 9"/>
          <p:cNvSpPr txBox="1"/>
          <p:nvPr/>
        </p:nvSpPr>
        <p:spPr>
          <a:xfrm>
            <a:off x="3639312" y="2606040"/>
            <a:ext cx="2212848" cy="2468880"/>
          </a:xfrm>
          <a:prstGeom prst="rect">
            <a:avLst/>
          </a:prstGeom>
          <a:noFill/>
        </p:spPr>
        <p:txBody>
          <a:bodyPr wrap="square">
            <a:spAutoFit/>
          </a:bodyPr>
          <a:lstStyle/>
          <a:p>
            <a:pPr>
              <a:spcAft>
                <a:spcPts val="800"/>
              </a:spcAft>
              <a:defRPr sz="1400" b="1">
                <a:solidFill>
                  <a:srgbClr val="F8FAFC"/>
                </a:solidFill>
                <a:latin typeface="Segoe UI"/>
              </a:defRPr>
            </a:pPr>
            <a:r>
              <a:t>Self-Aptitude Blindspots</a:t>
            </a:r>
          </a:p>
          <a:p>
            <a:pPr>
              <a:defRPr sz="1100">
                <a:solidFill>
                  <a:srgbClr val="94A3B8"/>
                </a:solidFill>
                <a:latin typeface="Segoe UI"/>
              </a:defRPr>
            </a:pPr>
            <a:r>
              <a:t>Students frequently struggle to connect their academic performance and natural cognitive strengths with practical career trajectories.</a:t>
            </a:r>
          </a:p>
        </p:txBody>
      </p:sp>
      <p:sp>
        <p:nvSpPr>
          <p:cNvPr id="11" name="Rounded Rectangle 10"/>
          <p:cNvSpPr/>
          <p:nvPr/>
        </p:nvSpPr>
        <p:spPr>
          <a:xfrm>
            <a:off x="6181344" y="1783080"/>
            <a:ext cx="2578608" cy="347472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64224" y="1965960"/>
            <a:ext cx="502920" cy="502920"/>
          </a:xfrm>
          <a:prstGeom prst="ellipse">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latin typeface="Segoe UI"/>
              </a:defRPr>
            </a:pPr>
            <a:r>
              <a:t>03</a:t>
            </a:r>
          </a:p>
        </p:txBody>
      </p:sp>
      <p:sp>
        <p:nvSpPr>
          <p:cNvPr id="13" name="TextBox 12"/>
          <p:cNvSpPr txBox="1"/>
          <p:nvPr/>
        </p:nvSpPr>
        <p:spPr>
          <a:xfrm>
            <a:off x="6364224" y="2606040"/>
            <a:ext cx="2212848" cy="2468880"/>
          </a:xfrm>
          <a:prstGeom prst="rect">
            <a:avLst/>
          </a:prstGeom>
          <a:noFill/>
        </p:spPr>
        <p:txBody>
          <a:bodyPr wrap="square">
            <a:spAutoFit/>
          </a:bodyPr>
          <a:lstStyle/>
          <a:p>
            <a:pPr>
              <a:spcAft>
                <a:spcPts val="800"/>
              </a:spcAft>
              <a:defRPr sz="1400" b="1">
                <a:solidFill>
                  <a:srgbClr val="F8FAFC"/>
                </a:solidFill>
                <a:latin typeface="Segoe UI"/>
              </a:defRPr>
            </a:pPr>
            <a:r>
              <a:t>External Pressure &amp; Bias</a:t>
            </a:r>
          </a:p>
          <a:p>
            <a:pPr>
              <a:defRPr sz="1100">
                <a:solidFill>
                  <a:srgbClr val="94A3B8"/>
                </a:solidFill>
                <a:latin typeface="Segoe UI"/>
              </a:defRPr>
            </a:pPr>
            <a:r>
              <a:t>Significant career decisions are frequently made under peer pressure or societal bias rather than validated aptitude, leading to high college dropout rates.</a:t>
            </a:r>
          </a:p>
        </p:txBody>
      </p:sp>
      <p:sp>
        <p:nvSpPr>
          <p:cNvPr id="14" name="Rounded Rectangle 13"/>
          <p:cNvSpPr/>
          <p:nvPr/>
        </p:nvSpPr>
        <p:spPr>
          <a:xfrm>
            <a:off x="8906256" y="1783080"/>
            <a:ext cx="2578608" cy="347472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89136" y="1965960"/>
            <a:ext cx="502920" cy="502920"/>
          </a:xfrm>
          <a:prstGeom prst="ellipse">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latin typeface="Segoe UI"/>
              </a:defRPr>
            </a:pPr>
            <a:r>
              <a:t>04</a:t>
            </a:r>
          </a:p>
        </p:txBody>
      </p:sp>
      <p:sp>
        <p:nvSpPr>
          <p:cNvPr id="16" name="TextBox 15"/>
          <p:cNvSpPr txBox="1"/>
          <p:nvPr/>
        </p:nvSpPr>
        <p:spPr>
          <a:xfrm>
            <a:off x="9089136" y="2606040"/>
            <a:ext cx="2212848" cy="2468880"/>
          </a:xfrm>
          <a:prstGeom prst="rect">
            <a:avLst/>
          </a:prstGeom>
          <a:noFill/>
        </p:spPr>
        <p:txBody>
          <a:bodyPr wrap="square">
            <a:spAutoFit/>
          </a:bodyPr>
          <a:lstStyle/>
          <a:p>
            <a:pPr>
              <a:spcAft>
                <a:spcPts val="800"/>
              </a:spcAft>
              <a:defRPr sz="1400" b="1">
                <a:solidFill>
                  <a:srgbClr val="F8FAFC"/>
                </a:solidFill>
                <a:latin typeface="Segoe UI"/>
              </a:defRPr>
            </a:pPr>
            <a:r>
              <a:t>Scattered Career Intelligence</a:t>
            </a:r>
          </a:p>
          <a:p>
            <a:pPr>
              <a:defRPr sz="1100">
                <a:solidFill>
                  <a:srgbClr val="94A3B8"/>
                </a:solidFill>
                <a:latin typeface="Segoe UI"/>
              </a:defRPr>
            </a:pPr>
            <a:r>
              <a:t>Crucial career parameters such as required skills, entry difficulty, salary expectations, and 5-year growth outlook are scattered across disjointed sites.</a:t>
            </a:r>
          </a:p>
        </p:txBody>
      </p:sp>
      <p:sp>
        <p:nvSpPr>
          <p:cNvPr id="17" name="Rounded Rectangle 16"/>
          <p:cNvSpPr/>
          <p:nvPr/>
        </p:nvSpPr>
        <p:spPr>
          <a:xfrm>
            <a:off x="731520" y="5486400"/>
            <a:ext cx="10728655" cy="8229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77840"/>
            <a:ext cx="10362895" cy="640080"/>
          </a:xfrm>
          <a:prstGeom prst="rect">
            <a:avLst/>
          </a:prstGeom>
          <a:noFill/>
        </p:spPr>
        <p:txBody>
          <a:bodyPr wrap="square">
            <a:spAutoFit/>
          </a:bodyPr>
          <a:lstStyle/>
          <a:p>
            <a:pPr>
              <a:defRPr sz="1250" b="1">
                <a:solidFill>
                  <a:srgbClr val="06B6D4"/>
                </a:solidFill>
                <a:latin typeface="Segoe UI"/>
              </a:defRPr>
            </a:pPr>
            <a:r>
              <a:t>💡 Core Insight: Career decisions must be grounded in structured self-awareness and objective data — not confusion, anxiety, and guesswork.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25856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SOLUTION OVERVIEW</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Introducing AVENZA: The Guided Career Pathway</a:t>
            </a:r>
          </a:p>
          <a:p>
            <a:pPr>
              <a:defRPr sz="1150">
                <a:solidFill>
                  <a:srgbClr val="94A3B8"/>
                </a:solidFill>
                <a:latin typeface="Segoe UI"/>
              </a:defRPr>
            </a:pPr>
            <a:r>
              <a:t>A progressive student discovery funnel converting raw user aptitude into validated professional recommendations.</a:t>
            </a:r>
          </a:p>
        </p:txBody>
      </p:sp>
      <p:sp>
        <p:nvSpPr>
          <p:cNvPr id="5" name="Rounded Rectangle 4"/>
          <p:cNvSpPr/>
          <p:nvPr/>
        </p:nvSpPr>
        <p:spPr>
          <a:xfrm>
            <a:off x="731520" y="1783080"/>
            <a:ext cx="2066543"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74519"/>
            <a:ext cx="1847088" cy="2743200"/>
          </a:xfrm>
          <a:prstGeom prst="rect">
            <a:avLst/>
          </a:prstGeom>
          <a:noFill/>
        </p:spPr>
        <p:txBody>
          <a:bodyPr wrap="square">
            <a:spAutoFit/>
          </a:bodyPr>
          <a:lstStyle/>
          <a:p>
            <a:pPr>
              <a:spcAft>
                <a:spcPts val="400"/>
              </a:spcAft>
              <a:defRPr sz="1000" b="1">
                <a:solidFill>
                  <a:srgbClr val="06B6D4"/>
                </a:solidFill>
                <a:latin typeface="Segoe UI"/>
              </a:defRPr>
            </a:pPr>
            <a:r>
              <a:t>Step 01</a:t>
            </a:r>
          </a:p>
          <a:p>
            <a:pPr>
              <a:spcAft>
                <a:spcPts val="600"/>
              </a:spcAft>
              <a:defRPr sz="1300" b="1">
                <a:solidFill>
                  <a:srgbClr val="F8FAFC"/>
                </a:solidFill>
                <a:latin typeface="Segoe UI"/>
              </a:defRPr>
            </a:pPr>
            <a:r>
              <a:t>Student Profile</a:t>
            </a:r>
          </a:p>
          <a:p>
            <a:pPr>
              <a:defRPr sz="1050">
                <a:solidFill>
                  <a:srgbClr val="94A3B8"/>
                </a:solidFill>
                <a:latin typeface="Segoe UI"/>
              </a:defRPr>
            </a:pPr>
            <a:r>
              <a:t>Captures educational stage, academic stream, and baseline performance.</a:t>
            </a:r>
          </a:p>
        </p:txBody>
      </p:sp>
      <p:sp>
        <p:nvSpPr>
          <p:cNvPr id="7" name="Rounded Rectangle 6"/>
          <p:cNvSpPr/>
          <p:nvPr/>
        </p:nvSpPr>
        <p:spPr>
          <a:xfrm>
            <a:off x="2907791" y="1783080"/>
            <a:ext cx="2066543"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19" y="1874519"/>
            <a:ext cx="1847088" cy="2743200"/>
          </a:xfrm>
          <a:prstGeom prst="rect">
            <a:avLst/>
          </a:prstGeom>
          <a:noFill/>
        </p:spPr>
        <p:txBody>
          <a:bodyPr wrap="square">
            <a:spAutoFit/>
          </a:bodyPr>
          <a:lstStyle/>
          <a:p>
            <a:pPr>
              <a:spcAft>
                <a:spcPts val="400"/>
              </a:spcAft>
              <a:defRPr sz="1000" b="1">
                <a:solidFill>
                  <a:srgbClr val="06B6D4"/>
                </a:solidFill>
                <a:latin typeface="Segoe UI"/>
              </a:defRPr>
            </a:pPr>
            <a:r>
              <a:t>Step 02</a:t>
            </a:r>
          </a:p>
          <a:p>
            <a:pPr>
              <a:spcAft>
                <a:spcPts val="600"/>
              </a:spcAft>
              <a:defRPr sz="1300" b="1">
                <a:solidFill>
                  <a:srgbClr val="F8FAFC"/>
                </a:solidFill>
                <a:latin typeface="Segoe UI"/>
              </a:defRPr>
            </a:pPr>
            <a:r>
              <a:t>Deep Assessment</a:t>
            </a:r>
          </a:p>
          <a:p>
            <a:pPr>
              <a:defRPr sz="1050">
                <a:solidFill>
                  <a:srgbClr val="94A3B8"/>
                </a:solidFill>
                <a:latin typeface="Segoe UI"/>
              </a:defRPr>
            </a:pPr>
            <a:r>
              <a:t>Explores domain interests, cognitive strengths, and career ambitions.</a:t>
            </a:r>
          </a:p>
        </p:txBody>
      </p:sp>
      <p:sp>
        <p:nvSpPr>
          <p:cNvPr id="9" name="Rounded Rectangle 8"/>
          <p:cNvSpPr/>
          <p:nvPr/>
        </p:nvSpPr>
        <p:spPr>
          <a:xfrm>
            <a:off x="5084064" y="1783080"/>
            <a:ext cx="2066543"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3792" y="1874519"/>
            <a:ext cx="1847088" cy="2743200"/>
          </a:xfrm>
          <a:prstGeom prst="rect">
            <a:avLst/>
          </a:prstGeom>
          <a:noFill/>
        </p:spPr>
        <p:txBody>
          <a:bodyPr wrap="square">
            <a:spAutoFit/>
          </a:bodyPr>
          <a:lstStyle/>
          <a:p>
            <a:pPr>
              <a:spcAft>
                <a:spcPts val="400"/>
              </a:spcAft>
              <a:defRPr sz="1000" b="1">
                <a:solidFill>
                  <a:srgbClr val="06B6D4"/>
                </a:solidFill>
                <a:latin typeface="Segoe UI"/>
              </a:defRPr>
            </a:pPr>
            <a:r>
              <a:t>Step 03</a:t>
            </a:r>
          </a:p>
          <a:p>
            <a:pPr>
              <a:spcAft>
                <a:spcPts val="600"/>
              </a:spcAft>
              <a:defRPr sz="1300" b="1">
                <a:solidFill>
                  <a:srgbClr val="F8FAFC"/>
                </a:solidFill>
                <a:latin typeface="Segoe UI"/>
              </a:defRPr>
            </a:pPr>
            <a:r>
              <a:t>Profile Analysis</a:t>
            </a:r>
          </a:p>
          <a:p>
            <a:pPr>
              <a:defRPr sz="1050">
                <a:solidFill>
                  <a:srgbClr val="94A3B8"/>
                </a:solidFill>
                <a:latin typeface="Segoe UI"/>
              </a:defRPr>
            </a:pPr>
            <a:r>
              <a:t>Normalizes user scores across multiple qualitative &amp; quantitative axes.</a:t>
            </a:r>
          </a:p>
        </p:txBody>
      </p:sp>
      <p:sp>
        <p:nvSpPr>
          <p:cNvPr id="11" name="Rounded Rectangle 10"/>
          <p:cNvSpPr/>
          <p:nvPr/>
        </p:nvSpPr>
        <p:spPr>
          <a:xfrm>
            <a:off x="7260336" y="1783080"/>
            <a:ext cx="2066543" cy="2926080"/>
          </a:xfrm>
          <a:prstGeom prst="roundRect">
            <a:avLst/>
          </a:prstGeom>
          <a:solidFill>
            <a:srgbClr val="161F31"/>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70064" y="1874519"/>
            <a:ext cx="1847088" cy="2743200"/>
          </a:xfrm>
          <a:prstGeom prst="rect">
            <a:avLst/>
          </a:prstGeom>
          <a:noFill/>
        </p:spPr>
        <p:txBody>
          <a:bodyPr wrap="square">
            <a:spAutoFit/>
          </a:bodyPr>
          <a:lstStyle/>
          <a:p>
            <a:pPr>
              <a:spcAft>
                <a:spcPts val="400"/>
              </a:spcAft>
              <a:defRPr sz="1000" b="1">
                <a:solidFill>
                  <a:srgbClr val="06B6D4"/>
                </a:solidFill>
                <a:latin typeface="Segoe UI"/>
              </a:defRPr>
            </a:pPr>
            <a:r>
              <a:t>Step 04</a:t>
            </a:r>
          </a:p>
          <a:p>
            <a:pPr>
              <a:spcAft>
                <a:spcPts val="600"/>
              </a:spcAft>
              <a:defRPr sz="1300" b="1">
                <a:solidFill>
                  <a:srgbClr val="F8FAFC"/>
                </a:solidFill>
                <a:latin typeface="Segoe UI"/>
              </a:defRPr>
            </a:pPr>
            <a:r>
              <a:t>Matching Engine</a:t>
            </a:r>
          </a:p>
          <a:p>
            <a:pPr>
              <a:defRPr sz="1050">
                <a:solidFill>
                  <a:srgbClr val="94A3B8"/>
                </a:solidFill>
                <a:latin typeface="Segoe UI"/>
              </a:defRPr>
            </a:pPr>
            <a:r>
              <a:t>Executes weighted scoring rules against curated occupational models.</a:t>
            </a:r>
          </a:p>
        </p:txBody>
      </p:sp>
      <p:sp>
        <p:nvSpPr>
          <p:cNvPr id="13" name="Rounded Rectangle 12"/>
          <p:cNvSpPr/>
          <p:nvPr/>
        </p:nvSpPr>
        <p:spPr>
          <a:xfrm>
            <a:off x="9436608" y="1783080"/>
            <a:ext cx="2066543"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6336" y="1874519"/>
            <a:ext cx="1847088" cy="2743200"/>
          </a:xfrm>
          <a:prstGeom prst="rect">
            <a:avLst/>
          </a:prstGeom>
          <a:noFill/>
        </p:spPr>
        <p:txBody>
          <a:bodyPr wrap="square">
            <a:spAutoFit/>
          </a:bodyPr>
          <a:lstStyle/>
          <a:p>
            <a:pPr>
              <a:spcAft>
                <a:spcPts val="400"/>
              </a:spcAft>
              <a:defRPr sz="1000" b="1">
                <a:solidFill>
                  <a:srgbClr val="06B6D4"/>
                </a:solidFill>
                <a:latin typeface="Segoe UI"/>
              </a:defRPr>
            </a:pPr>
            <a:r>
              <a:t>Step 05</a:t>
            </a:r>
          </a:p>
          <a:p>
            <a:pPr>
              <a:spcAft>
                <a:spcPts val="600"/>
              </a:spcAft>
              <a:defRPr sz="1300" b="1">
                <a:solidFill>
                  <a:srgbClr val="F8FAFC"/>
                </a:solidFill>
                <a:latin typeface="Segoe UI"/>
              </a:defRPr>
            </a:pPr>
            <a:r>
              <a:t>Tailored Output</a:t>
            </a:r>
          </a:p>
          <a:p>
            <a:pPr>
              <a:defRPr sz="1050">
                <a:solidFill>
                  <a:srgbClr val="94A3B8"/>
                </a:solidFill>
                <a:latin typeface="Segoe UI"/>
              </a:defRPr>
            </a:pPr>
            <a:r>
              <a:t>Generates ranked career matches with transparent rationale and skill tags.</a:t>
            </a:r>
          </a:p>
        </p:txBody>
      </p:sp>
      <p:sp>
        <p:nvSpPr>
          <p:cNvPr id="15" name="Rounded Rectangle 14"/>
          <p:cNvSpPr/>
          <p:nvPr/>
        </p:nvSpPr>
        <p:spPr>
          <a:xfrm>
            <a:off x="731520" y="4892040"/>
            <a:ext cx="3456432" cy="1463040"/>
          </a:xfrm>
          <a:prstGeom prst="roundRect">
            <a:avLst/>
          </a:prstGeom>
          <a:solidFill>
            <a:srgbClr val="1C28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983480"/>
            <a:ext cx="3182112" cy="1280160"/>
          </a:xfrm>
          <a:prstGeom prst="rect">
            <a:avLst/>
          </a:prstGeom>
          <a:noFill/>
        </p:spPr>
        <p:txBody>
          <a:bodyPr wrap="square">
            <a:spAutoFit/>
          </a:bodyPr>
          <a:lstStyle/>
          <a:p>
            <a:pPr>
              <a:spcAft>
                <a:spcPts val="300"/>
              </a:spcAft>
              <a:defRPr sz="1200" b="1">
                <a:solidFill>
                  <a:srgbClr val="10B981"/>
                </a:solidFill>
                <a:latin typeface="Segoe UI"/>
              </a:defRPr>
            </a:pPr>
            <a:r>
              <a:t>⭐ Match Score Transparency</a:t>
            </a:r>
          </a:p>
          <a:p>
            <a:pPr>
              <a:defRPr sz="1000">
                <a:solidFill>
                  <a:srgbClr val="94A3B8"/>
                </a:solidFill>
                <a:latin typeface="Segoe UI"/>
              </a:defRPr>
            </a:pPr>
            <a:r>
              <a:t>Students see an exact 0-100% compatibility rating plus clear justification explaining why a career fits them.</a:t>
            </a:r>
          </a:p>
        </p:txBody>
      </p:sp>
      <p:sp>
        <p:nvSpPr>
          <p:cNvPr id="17" name="Rounded Rectangle 16"/>
          <p:cNvSpPr/>
          <p:nvPr/>
        </p:nvSpPr>
        <p:spPr>
          <a:xfrm>
            <a:off x="4370832" y="4892040"/>
            <a:ext cx="3456432" cy="1463040"/>
          </a:xfrm>
          <a:prstGeom prst="roundRect">
            <a:avLst/>
          </a:prstGeom>
          <a:solidFill>
            <a:srgbClr val="1C28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4983480"/>
            <a:ext cx="3182112" cy="1280160"/>
          </a:xfrm>
          <a:prstGeom prst="rect">
            <a:avLst/>
          </a:prstGeom>
          <a:noFill/>
        </p:spPr>
        <p:txBody>
          <a:bodyPr wrap="square">
            <a:spAutoFit/>
          </a:bodyPr>
          <a:lstStyle/>
          <a:p>
            <a:pPr>
              <a:spcAft>
                <a:spcPts val="300"/>
              </a:spcAft>
              <a:defRPr sz="1200" b="1">
                <a:solidFill>
                  <a:srgbClr val="06B6D4"/>
                </a:solidFill>
                <a:latin typeface="Segoe UI"/>
              </a:defRPr>
            </a:pPr>
            <a:r>
              <a:t>📈 360° Career Intelligence</a:t>
            </a:r>
          </a:p>
          <a:p>
            <a:pPr>
              <a:defRPr sz="1000">
                <a:solidFill>
                  <a:srgbClr val="94A3B8"/>
                </a:solidFill>
                <a:latin typeface="Segoe UI"/>
              </a:defRPr>
            </a:pPr>
            <a:r>
              <a:t>Detailed occupational profiles including entry difficulty, 5-year growth outlook, salary ranges, and essential skill tags.</a:t>
            </a:r>
          </a:p>
        </p:txBody>
      </p:sp>
      <p:sp>
        <p:nvSpPr>
          <p:cNvPr id="19" name="Rounded Rectangle 18"/>
          <p:cNvSpPr/>
          <p:nvPr/>
        </p:nvSpPr>
        <p:spPr>
          <a:xfrm>
            <a:off x="8010144" y="4892040"/>
            <a:ext cx="3456432" cy="1463040"/>
          </a:xfrm>
          <a:prstGeom prst="roundRect">
            <a:avLst/>
          </a:prstGeom>
          <a:solidFill>
            <a:srgbClr val="1C28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4983480"/>
            <a:ext cx="3182112" cy="1280160"/>
          </a:xfrm>
          <a:prstGeom prst="rect">
            <a:avLst/>
          </a:prstGeom>
          <a:noFill/>
        </p:spPr>
        <p:txBody>
          <a:bodyPr wrap="square">
            <a:spAutoFit/>
          </a:bodyPr>
          <a:lstStyle/>
          <a:p>
            <a:pPr>
              <a:spcAft>
                <a:spcPts val="300"/>
              </a:spcAft>
              <a:defRPr sz="1200" b="1">
                <a:solidFill>
                  <a:srgbClr val="7C3AED"/>
                </a:solidFill>
                <a:latin typeface="Segoe UI"/>
              </a:defRPr>
            </a:pPr>
            <a:r>
              <a:t>📁 Persistent Career Hub</a:t>
            </a:r>
          </a:p>
          <a:p>
            <a:pPr>
              <a:defRPr sz="1000">
                <a:solidFill>
                  <a:srgbClr val="94A3B8"/>
                </a:solidFill>
                <a:latin typeface="Segoe UI"/>
              </a:defRPr>
            </a:pPr>
            <a:r>
              <a:t>User dashboard with career bookmarking, profile editing, and daily career motivation powered by public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862072"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FUNCTIONAL ARCHITECTURE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Application Overview: Core Page Ecosystem</a:t>
            </a:r>
          </a:p>
          <a:p>
            <a:pPr>
              <a:defRPr sz="1150">
                <a:solidFill>
                  <a:srgbClr val="94A3B8"/>
                </a:solidFill>
                <a:latin typeface="Segoe UI"/>
              </a:defRPr>
            </a:pPr>
            <a:r>
              <a:t>A modular Single Page Application built with React Router v6, responsive layouts, and isolated state.</a:t>
            </a:r>
          </a:p>
        </p:txBody>
      </p:sp>
      <p:sp>
        <p:nvSpPr>
          <p:cNvPr id="5" name="Rounded Rectangle 4"/>
          <p:cNvSpPr/>
          <p:nvPr/>
        </p:nvSpPr>
        <p:spPr>
          <a:xfrm>
            <a:off x="731520"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47672"/>
            <a:ext cx="3127248" cy="1828800"/>
          </a:xfrm>
          <a:prstGeom prst="rect">
            <a:avLst/>
          </a:prstGeom>
          <a:noFill/>
        </p:spPr>
        <p:txBody>
          <a:bodyPr wrap="square">
            <a:spAutoFit/>
          </a:bodyPr>
          <a:lstStyle/>
          <a:p>
            <a:pPr>
              <a:spcAft>
                <a:spcPts val="600"/>
              </a:spcAft>
              <a:defRPr sz="1300" b="1">
                <a:solidFill>
                  <a:srgbClr val="06B6D4"/>
                </a:solidFill>
                <a:latin typeface="Segoe UI"/>
              </a:defRPr>
            </a:pPr>
            <a:r>
              <a:t>🏠 Landing Page (Home)</a:t>
            </a:r>
          </a:p>
          <a:p>
            <a:pPr>
              <a:defRPr sz="1050">
                <a:solidFill>
                  <a:srgbClr val="94A3B8"/>
                </a:solidFill>
                <a:latin typeface="Segoe UI"/>
              </a:defRPr>
            </a:pPr>
            <a:r>
              <a:t>High-conversion modern dark hero section with animated value props, platform pillars, interactive call-to-actions, and responsive navbar navigation.</a:t>
            </a:r>
          </a:p>
        </p:txBody>
      </p:sp>
      <p:sp>
        <p:nvSpPr>
          <p:cNvPr id="7" name="Rounded Rectangle 6"/>
          <p:cNvSpPr/>
          <p:nvPr/>
        </p:nvSpPr>
        <p:spPr>
          <a:xfrm>
            <a:off x="4370832"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947672"/>
            <a:ext cx="3127248" cy="1828800"/>
          </a:xfrm>
          <a:prstGeom prst="rect">
            <a:avLst/>
          </a:prstGeom>
          <a:noFill/>
        </p:spPr>
        <p:txBody>
          <a:bodyPr wrap="square">
            <a:spAutoFit/>
          </a:bodyPr>
          <a:lstStyle/>
          <a:p>
            <a:pPr>
              <a:spcAft>
                <a:spcPts val="600"/>
              </a:spcAft>
              <a:defRPr sz="1300" b="1">
                <a:solidFill>
                  <a:srgbClr val="2563EB"/>
                </a:solidFill>
                <a:latin typeface="Segoe UI"/>
              </a:defRPr>
            </a:pPr>
            <a:r>
              <a:t>📖 Informational Suite</a:t>
            </a:r>
          </a:p>
          <a:p>
            <a:pPr>
              <a:defRPr sz="1050">
                <a:solidFill>
                  <a:srgbClr val="94A3B8"/>
                </a:solidFill>
                <a:latin typeface="Segoe UI"/>
              </a:defRPr>
            </a:pPr>
            <a:r>
              <a:t>Dedicated content hubs including 'About Avenza' mission &amp; story, 'Features' showcase (6 platform pillars), and an interactive Framer Motion FAQ accordion.</a:t>
            </a:r>
          </a:p>
        </p:txBody>
      </p:sp>
      <p:sp>
        <p:nvSpPr>
          <p:cNvPr id="9" name="Rounded Rectangle 8"/>
          <p:cNvSpPr/>
          <p:nvPr/>
        </p:nvSpPr>
        <p:spPr>
          <a:xfrm>
            <a:off x="8010144"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47672"/>
            <a:ext cx="3127248" cy="1828800"/>
          </a:xfrm>
          <a:prstGeom prst="rect">
            <a:avLst/>
          </a:prstGeom>
          <a:noFill/>
        </p:spPr>
        <p:txBody>
          <a:bodyPr wrap="square">
            <a:spAutoFit/>
          </a:bodyPr>
          <a:lstStyle/>
          <a:p>
            <a:pPr>
              <a:spcAft>
                <a:spcPts val="600"/>
              </a:spcAft>
              <a:defRPr sz="1300" b="1">
                <a:solidFill>
                  <a:srgbClr val="7C3AED"/>
                </a:solidFill>
                <a:latin typeface="Segoe UI"/>
              </a:defRPr>
            </a:pPr>
            <a:r>
              <a:t>🧭 Career Discovery Engine</a:t>
            </a:r>
          </a:p>
          <a:p>
            <a:pPr>
              <a:defRPr sz="1050">
                <a:solidFill>
                  <a:srgbClr val="94A3B8"/>
                </a:solidFill>
                <a:latin typeface="Segoe UI"/>
              </a:defRPr>
            </a:pPr>
            <a:r>
              <a:t>6-stage guided assessment wizard with real-time state lifting, validation gates, controlled inputs, and smooth progress tracking.</a:t>
            </a:r>
          </a:p>
        </p:txBody>
      </p:sp>
      <p:sp>
        <p:nvSpPr>
          <p:cNvPr id="11" name="Rounded Rectangle 10"/>
          <p:cNvSpPr/>
          <p:nvPr/>
        </p:nvSpPr>
        <p:spPr>
          <a:xfrm>
            <a:off x="731520"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279392"/>
            <a:ext cx="3127248" cy="1828800"/>
          </a:xfrm>
          <a:prstGeom prst="rect">
            <a:avLst/>
          </a:prstGeom>
          <a:noFill/>
        </p:spPr>
        <p:txBody>
          <a:bodyPr wrap="square">
            <a:spAutoFit/>
          </a:bodyPr>
          <a:lstStyle/>
          <a:p>
            <a:pPr>
              <a:spcAft>
                <a:spcPts val="600"/>
              </a:spcAft>
              <a:defRPr sz="1300" b="1">
                <a:solidFill>
                  <a:srgbClr val="06B6D4"/>
                </a:solidFill>
                <a:latin typeface="Segoe UI"/>
              </a:defRPr>
            </a:pPr>
            <a:r>
              <a:t>📊 Recommendation Results</a:t>
            </a:r>
          </a:p>
          <a:p>
            <a:pPr>
              <a:defRPr sz="1050">
                <a:solidFill>
                  <a:srgbClr val="94A3B8"/>
                </a:solidFill>
                <a:latin typeface="Segoe UI"/>
              </a:defRPr>
            </a:pPr>
            <a:r>
              <a:t>Dynamic career ranking view featuring circular SVG match score rings, category filters, match justifications, and skill breakdown chips.</a:t>
            </a:r>
          </a:p>
        </p:txBody>
      </p:sp>
      <p:sp>
        <p:nvSpPr>
          <p:cNvPr id="13" name="Rounded Rectangle 12"/>
          <p:cNvSpPr/>
          <p:nvPr/>
        </p:nvSpPr>
        <p:spPr>
          <a:xfrm>
            <a:off x="4370832"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4279392"/>
            <a:ext cx="3127248" cy="1828800"/>
          </a:xfrm>
          <a:prstGeom prst="rect">
            <a:avLst/>
          </a:prstGeom>
          <a:noFill/>
        </p:spPr>
        <p:txBody>
          <a:bodyPr wrap="square">
            <a:spAutoFit/>
          </a:bodyPr>
          <a:lstStyle/>
          <a:p>
            <a:pPr>
              <a:spcAft>
                <a:spcPts val="600"/>
              </a:spcAft>
              <a:defRPr sz="1300" b="1">
                <a:solidFill>
                  <a:srgbClr val="2563EB"/>
                </a:solidFill>
                <a:latin typeface="Segoe UI"/>
              </a:defRPr>
            </a:pPr>
            <a:r>
              <a:t>🛡️ Protected User Dashboard</a:t>
            </a:r>
          </a:p>
          <a:p>
            <a:pPr>
              <a:defRPr sz="1050">
                <a:solidFill>
                  <a:srgbClr val="94A3B8"/>
                </a:solidFill>
                <a:latin typeface="Segoe UI"/>
              </a:defRPr>
            </a:pPr>
            <a:r>
              <a:t>Secured personal workspace housing the Career Journey overview, editable Profile preferences, saved career bookmarks, and daily motivation.</a:t>
            </a:r>
          </a:p>
        </p:txBody>
      </p:sp>
      <p:sp>
        <p:nvSpPr>
          <p:cNvPr id="15" name="Rounded Rectangle 14"/>
          <p:cNvSpPr/>
          <p:nvPr/>
        </p:nvSpPr>
        <p:spPr>
          <a:xfrm>
            <a:off x="8010144"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6" y="4279392"/>
            <a:ext cx="3127248" cy="1828800"/>
          </a:xfrm>
          <a:prstGeom prst="rect">
            <a:avLst/>
          </a:prstGeom>
          <a:noFill/>
        </p:spPr>
        <p:txBody>
          <a:bodyPr wrap="square">
            <a:spAutoFit/>
          </a:bodyPr>
          <a:lstStyle/>
          <a:p>
            <a:pPr>
              <a:spcAft>
                <a:spcPts val="600"/>
              </a:spcAft>
              <a:defRPr sz="1300" b="1">
                <a:solidFill>
                  <a:srgbClr val="7C3AED"/>
                </a:solidFill>
                <a:latin typeface="Segoe UI"/>
              </a:defRPr>
            </a:pPr>
            <a:r>
              <a:t>🔐 Demo Auth &amp; 404 Guard</a:t>
            </a:r>
          </a:p>
          <a:p>
            <a:pPr>
              <a:defRPr sz="1050">
                <a:solidFill>
                  <a:srgbClr val="94A3B8"/>
                </a:solidFill>
                <a:latin typeface="Segoe UI"/>
              </a:defRPr>
            </a:pPr>
            <a:r>
              <a:t>Client-side credential hashing, session persistence, automatic user self-registration, route protection, and a custom 404 page.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057400"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USER EXPERIENCE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End-to-End User Journey Pipeline</a:t>
            </a:r>
          </a:p>
          <a:p>
            <a:pPr>
              <a:defRPr sz="1150">
                <a:solidFill>
                  <a:srgbClr val="94A3B8"/>
                </a:solidFill>
                <a:latin typeface="Segoe UI"/>
              </a:defRPr>
            </a:pPr>
            <a:r>
              <a:t>From first discovery on the landing page to actionable long-term portfolio tracking.</a:t>
            </a:r>
          </a:p>
        </p:txBody>
      </p:sp>
      <p:sp>
        <p:nvSpPr>
          <p:cNvPr id="5" name="Rounded Rectangle 4"/>
          <p:cNvSpPr/>
          <p:nvPr/>
        </p:nvSpPr>
        <p:spPr>
          <a:xfrm>
            <a:off x="731520" y="1874519"/>
            <a:ext cx="1243584" cy="2194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1</a:t>
            </a:r>
          </a:p>
          <a:p>
            <a:pPr>
              <a:spcAft>
                <a:spcPts val="400"/>
              </a:spcAft>
              <a:defRPr sz="1150" b="1">
                <a:solidFill>
                  <a:srgbClr val="F8FAFC"/>
                </a:solidFill>
                <a:latin typeface="Segoe UI"/>
              </a:defRPr>
            </a:pPr>
            <a:r>
              <a:t>Landing Page</a:t>
            </a:r>
          </a:p>
          <a:p>
            <a:pPr>
              <a:defRPr sz="900">
                <a:solidFill>
                  <a:srgbClr val="94A3B8"/>
                </a:solidFill>
                <a:latin typeface="Segoe UI"/>
              </a:defRPr>
            </a:pPr>
            <a:r>
              <a:t>Explore value props &amp; click 'Discover Careers'</a:t>
            </a:r>
          </a:p>
        </p:txBody>
      </p:sp>
      <p:sp>
        <p:nvSpPr>
          <p:cNvPr id="7" name="Rounded Rectangle 6"/>
          <p:cNvSpPr/>
          <p:nvPr/>
        </p:nvSpPr>
        <p:spPr>
          <a:xfrm>
            <a:off x="2084832" y="1874519"/>
            <a:ext cx="1243584" cy="2194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57984"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2</a:t>
            </a:r>
          </a:p>
          <a:p>
            <a:pPr>
              <a:spcAft>
                <a:spcPts val="400"/>
              </a:spcAft>
              <a:defRPr sz="1150" b="1">
                <a:solidFill>
                  <a:srgbClr val="F8FAFC"/>
                </a:solidFill>
                <a:latin typeface="Segoe UI"/>
              </a:defRPr>
            </a:pPr>
            <a:r>
              <a:t>Start Discovery</a:t>
            </a:r>
          </a:p>
          <a:p>
            <a:pPr>
              <a:defRPr sz="900">
                <a:solidFill>
                  <a:srgbClr val="94A3B8"/>
                </a:solidFill>
                <a:latin typeface="Segoe UI"/>
              </a:defRPr>
            </a:pPr>
            <a:r>
              <a:t>Initialize assessment state via custom hook</a:t>
            </a:r>
          </a:p>
        </p:txBody>
      </p:sp>
      <p:sp>
        <p:nvSpPr>
          <p:cNvPr id="9" name="Rounded Rectangle 8"/>
          <p:cNvSpPr/>
          <p:nvPr/>
        </p:nvSpPr>
        <p:spPr>
          <a:xfrm>
            <a:off x="3438144" y="1874519"/>
            <a:ext cx="1243584" cy="2194560"/>
          </a:xfrm>
          <a:prstGeom prst="roundRect">
            <a:avLst/>
          </a:prstGeom>
          <a:solidFill>
            <a:srgbClr val="161F31"/>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1296"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3</a:t>
            </a:r>
          </a:p>
          <a:p>
            <a:pPr>
              <a:spcAft>
                <a:spcPts val="400"/>
              </a:spcAft>
              <a:defRPr sz="1150" b="1">
                <a:solidFill>
                  <a:srgbClr val="F8FAFC"/>
                </a:solidFill>
                <a:latin typeface="Segoe UI"/>
              </a:defRPr>
            </a:pPr>
            <a:r>
              <a:t>6-Step Wizard</a:t>
            </a:r>
          </a:p>
          <a:p>
            <a:pPr>
              <a:defRPr sz="900">
                <a:solidFill>
                  <a:srgbClr val="94A3B8"/>
                </a:solidFill>
                <a:latin typeface="Segoe UI"/>
              </a:defRPr>
            </a:pPr>
            <a:r>
              <a:t>Provide academics, stream, interests &amp; skills</a:t>
            </a:r>
          </a:p>
        </p:txBody>
      </p:sp>
      <p:sp>
        <p:nvSpPr>
          <p:cNvPr id="11" name="Rounded Rectangle 10"/>
          <p:cNvSpPr/>
          <p:nvPr/>
        </p:nvSpPr>
        <p:spPr>
          <a:xfrm>
            <a:off x="4791455" y="1874519"/>
            <a:ext cx="1243584" cy="2194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64607"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4</a:t>
            </a:r>
          </a:p>
          <a:p>
            <a:pPr>
              <a:spcAft>
                <a:spcPts val="400"/>
              </a:spcAft>
              <a:defRPr sz="1150" b="1">
                <a:solidFill>
                  <a:srgbClr val="F8FAFC"/>
                </a:solidFill>
                <a:latin typeface="Segoe UI"/>
              </a:defRPr>
            </a:pPr>
            <a:r>
              <a:t>Profile Summary</a:t>
            </a:r>
          </a:p>
          <a:p>
            <a:pPr>
              <a:defRPr sz="900">
                <a:solidFill>
                  <a:srgbClr val="94A3B8"/>
                </a:solidFill>
                <a:latin typeface="Segoe UI"/>
              </a:defRPr>
            </a:pPr>
            <a:r>
              <a:t>Review verified responses before analysis</a:t>
            </a:r>
          </a:p>
        </p:txBody>
      </p:sp>
      <p:sp>
        <p:nvSpPr>
          <p:cNvPr id="13" name="Rounded Rectangle 12"/>
          <p:cNvSpPr/>
          <p:nvPr/>
        </p:nvSpPr>
        <p:spPr>
          <a:xfrm>
            <a:off x="6144768" y="1874519"/>
            <a:ext cx="1243584" cy="2194560"/>
          </a:xfrm>
          <a:prstGeom prst="roundRect">
            <a:avLst/>
          </a:prstGeom>
          <a:solidFill>
            <a:srgbClr val="161F31"/>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5</a:t>
            </a:r>
          </a:p>
          <a:p>
            <a:pPr>
              <a:spcAft>
                <a:spcPts val="400"/>
              </a:spcAft>
              <a:defRPr sz="1150" b="1">
                <a:solidFill>
                  <a:srgbClr val="F8FAFC"/>
                </a:solidFill>
                <a:latin typeface="Segoe UI"/>
              </a:defRPr>
            </a:pPr>
            <a:r>
              <a:t>View Results</a:t>
            </a:r>
          </a:p>
          <a:p>
            <a:pPr>
              <a:defRPr sz="900">
                <a:solidFill>
                  <a:srgbClr val="94A3B8"/>
                </a:solidFill>
                <a:latin typeface="Segoe UI"/>
              </a:defRPr>
            </a:pPr>
            <a:r>
              <a:t>Explore ranked matches with match % scores</a:t>
            </a:r>
          </a:p>
        </p:txBody>
      </p:sp>
      <p:sp>
        <p:nvSpPr>
          <p:cNvPr id="15" name="Rounded Rectangle 14"/>
          <p:cNvSpPr/>
          <p:nvPr/>
        </p:nvSpPr>
        <p:spPr>
          <a:xfrm>
            <a:off x="7498080" y="1874519"/>
            <a:ext cx="1243584" cy="2194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2"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6</a:t>
            </a:r>
          </a:p>
          <a:p>
            <a:pPr>
              <a:spcAft>
                <a:spcPts val="400"/>
              </a:spcAft>
              <a:defRPr sz="1150" b="1">
                <a:solidFill>
                  <a:srgbClr val="F8FAFC"/>
                </a:solidFill>
                <a:latin typeface="Segoe UI"/>
              </a:defRPr>
            </a:pPr>
            <a:r>
              <a:t>Career Details</a:t>
            </a:r>
          </a:p>
          <a:p>
            <a:pPr>
              <a:defRPr sz="900">
                <a:solidFill>
                  <a:srgbClr val="94A3B8"/>
                </a:solidFill>
                <a:latin typeface="Segoe UI"/>
              </a:defRPr>
            </a:pPr>
            <a:r>
              <a:t>Inspect required skills, salary &amp; growth outlook</a:t>
            </a:r>
          </a:p>
        </p:txBody>
      </p:sp>
      <p:sp>
        <p:nvSpPr>
          <p:cNvPr id="17" name="Rounded Rectangle 16"/>
          <p:cNvSpPr/>
          <p:nvPr/>
        </p:nvSpPr>
        <p:spPr>
          <a:xfrm>
            <a:off x="8851392" y="1874519"/>
            <a:ext cx="1243584" cy="2194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24544"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7</a:t>
            </a:r>
          </a:p>
          <a:p>
            <a:pPr>
              <a:spcAft>
                <a:spcPts val="400"/>
              </a:spcAft>
              <a:defRPr sz="1150" b="1">
                <a:solidFill>
                  <a:srgbClr val="F8FAFC"/>
                </a:solidFill>
                <a:latin typeface="Segoe UI"/>
              </a:defRPr>
            </a:pPr>
            <a:r>
              <a:t>Save Careers</a:t>
            </a:r>
          </a:p>
          <a:p>
            <a:pPr>
              <a:defRPr sz="900">
                <a:solidFill>
                  <a:srgbClr val="94A3B8"/>
                </a:solidFill>
                <a:latin typeface="Segoe UI"/>
              </a:defRPr>
            </a:pPr>
            <a:r>
              <a:t>Bookmark target careers to localStorage</a:t>
            </a:r>
          </a:p>
        </p:txBody>
      </p:sp>
      <p:sp>
        <p:nvSpPr>
          <p:cNvPr id="19" name="Rounded Rectangle 18"/>
          <p:cNvSpPr/>
          <p:nvPr/>
        </p:nvSpPr>
        <p:spPr>
          <a:xfrm>
            <a:off x="10204704" y="1874519"/>
            <a:ext cx="1243584" cy="2194560"/>
          </a:xfrm>
          <a:prstGeom prst="roundRect">
            <a:avLst/>
          </a:prstGeom>
          <a:solidFill>
            <a:srgbClr val="161F31"/>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77856" y="1965959"/>
            <a:ext cx="1097280" cy="2011680"/>
          </a:xfrm>
          <a:prstGeom prst="rect">
            <a:avLst/>
          </a:prstGeom>
          <a:noFill/>
        </p:spPr>
        <p:txBody>
          <a:bodyPr wrap="square">
            <a:spAutoFit/>
          </a:bodyPr>
          <a:lstStyle/>
          <a:p>
            <a:pPr>
              <a:spcAft>
                <a:spcPts val="400"/>
              </a:spcAft>
              <a:defRPr sz="900" b="1">
                <a:solidFill>
                  <a:srgbClr val="06B6D4"/>
                </a:solidFill>
                <a:latin typeface="Segoe UI"/>
              </a:defRPr>
            </a:pPr>
            <a:r>
              <a:t>STEP 8</a:t>
            </a:r>
          </a:p>
          <a:p>
            <a:pPr>
              <a:spcAft>
                <a:spcPts val="400"/>
              </a:spcAft>
              <a:defRPr sz="1150" b="1">
                <a:solidFill>
                  <a:srgbClr val="F8FAFC"/>
                </a:solidFill>
                <a:latin typeface="Segoe UI"/>
              </a:defRPr>
            </a:pPr>
            <a:r>
              <a:t>Dashboard Hub</a:t>
            </a:r>
          </a:p>
          <a:p>
            <a:pPr>
              <a:defRPr sz="900">
                <a:solidFill>
                  <a:srgbClr val="94A3B8"/>
                </a:solidFill>
                <a:latin typeface="Segoe UI"/>
              </a:defRPr>
            </a:pPr>
            <a:r>
              <a:t>Track career journey &amp; fetch daily insights</a:t>
            </a:r>
          </a:p>
        </p:txBody>
      </p:sp>
      <p:sp>
        <p:nvSpPr>
          <p:cNvPr id="21" name="Rounded Rectangle 20"/>
          <p:cNvSpPr/>
          <p:nvPr/>
        </p:nvSpPr>
        <p:spPr>
          <a:xfrm>
            <a:off x="731520" y="4343400"/>
            <a:ext cx="5257800" cy="1920240"/>
          </a:xfrm>
          <a:prstGeom prst="roundRect">
            <a:avLst/>
          </a:prstGeom>
          <a:solidFill>
            <a:srgbClr val="1C28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480560"/>
            <a:ext cx="4892040" cy="1645920"/>
          </a:xfrm>
          <a:prstGeom prst="rect">
            <a:avLst/>
          </a:prstGeom>
          <a:noFill/>
        </p:spPr>
        <p:txBody>
          <a:bodyPr wrap="square">
            <a:spAutoFit/>
          </a:bodyPr>
          <a:lstStyle/>
          <a:p>
            <a:pPr>
              <a:spcAft>
                <a:spcPts val="400"/>
              </a:spcAft>
              <a:defRPr sz="1300" b="1">
                <a:solidFill>
                  <a:srgbClr val="06B6D4"/>
                </a:solidFill>
                <a:latin typeface="Segoe UI"/>
              </a:defRPr>
            </a:pPr>
            <a:r>
              <a:t>⚡ Frictionless Onboarding Design</a:t>
            </a:r>
          </a:p>
          <a:p>
            <a:pPr>
              <a:defRPr sz="1050">
                <a:solidFill>
                  <a:srgbClr val="94A3B8"/>
                </a:solidFill>
                <a:latin typeface="Segoe UI"/>
              </a:defRPr>
            </a:pPr>
            <a:r>
              <a:t>Students are never forced to register or enter credentials prior to taking the assessment. We remove upfront friction so users experience the recommendation value immediately. Auth is only required when saving careers and opening their personal dashboard.</a:t>
            </a:r>
          </a:p>
        </p:txBody>
      </p:sp>
      <p:sp>
        <p:nvSpPr>
          <p:cNvPr id="23" name="Rounded Rectangle 22"/>
          <p:cNvSpPr/>
          <p:nvPr/>
        </p:nvSpPr>
        <p:spPr>
          <a:xfrm>
            <a:off x="6199632" y="4343400"/>
            <a:ext cx="5257800" cy="1920240"/>
          </a:xfrm>
          <a:prstGeom prst="roundRect">
            <a:avLst/>
          </a:prstGeom>
          <a:solidFill>
            <a:srgbClr val="1C28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4480560"/>
            <a:ext cx="4892040" cy="1645920"/>
          </a:xfrm>
          <a:prstGeom prst="rect">
            <a:avLst/>
          </a:prstGeom>
          <a:noFill/>
        </p:spPr>
        <p:txBody>
          <a:bodyPr wrap="square">
            <a:spAutoFit/>
          </a:bodyPr>
          <a:lstStyle/>
          <a:p>
            <a:pPr>
              <a:spcAft>
                <a:spcPts val="400"/>
              </a:spcAft>
              <a:defRPr sz="1300" b="1">
                <a:solidFill>
                  <a:srgbClr val="10B981"/>
                </a:solidFill>
                <a:latin typeface="Segoe UI"/>
              </a:defRPr>
            </a:pPr>
            <a:r>
              <a:t>🔄 State &amp; Storage Synchronization</a:t>
            </a:r>
          </a:p>
          <a:p>
            <a:pPr>
              <a:defRPr sz="1050">
                <a:solidFill>
                  <a:srgbClr val="94A3B8"/>
                </a:solidFill>
                <a:latin typeface="Segoe UI"/>
              </a:defRPr>
            </a:pPr>
            <a:r>
              <a:t>Every state change in the assessment seamlessly syncs to browser localStorage via custom hooks. If a student accidentally refreshes or navigates away, their assessment progress and bookmark history are safely restored without data loss.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25856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ASSESSMENT ENGINE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The 6-Step Career Discovery Wizard</a:t>
            </a:r>
          </a:p>
          <a:p>
            <a:pPr>
              <a:defRPr sz="1150">
                <a:solidFill>
                  <a:srgbClr val="94A3B8"/>
                </a:solidFill>
                <a:latin typeface="Segoe UI"/>
              </a:defRPr>
            </a:pPr>
            <a:r>
              <a:t>Comprehensive data collection ensuring multidimensional profiling across academic, cognitive, and aspirational criteria.</a:t>
            </a:r>
          </a:p>
        </p:txBody>
      </p:sp>
      <p:sp>
        <p:nvSpPr>
          <p:cNvPr id="5" name="Rounded Rectangle 4"/>
          <p:cNvSpPr/>
          <p:nvPr/>
        </p:nvSpPr>
        <p:spPr>
          <a:xfrm>
            <a:off x="731520"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20240"/>
            <a:ext cx="3127248" cy="1874519"/>
          </a:xfrm>
          <a:prstGeom prst="rect">
            <a:avLst/>
          </a:prstGeom>
          <a:noFill/>
        </p:spPr>
        <p:txBody>
          <a:bodyPr wrap="square">
            <a:spAutoFit/>
          </a:bodyPr>
          <a:lstStyle/>
          <a:p>
            <a:pPr>
              <a:defRPr sz="1250" b="1">
                <a:solidFill>
                  <a:srgbClr val="06B6D4"/>
                </a:solidFill>
                <a:latin typeface="Segoe UI"/>
              </a:defRPr>
            </a:pPr>
            <a:r>
              <a:t>Step 1: About You</a:t>
            </a:r>
          </a:p>
          <a:p>
            <a:pPr>
              <a:spcAft>
                <a:spcPts val="400"/>
              </a:spcAft>
              <a:defRPr sz="1050" b="1">
                <a:solidFill>
                  <a:srgbClr val="F8FAFC"/>
                </a:solidFill>
                <a:latin typeface="Segoe UI"/>
              </a:defRPr>
            </a:pPr>
            <a:r>
              <a:t>Student Identity &amp; Education</a:t>
            </a:r>
          </a:p>
          <a:p>
            <a:pPr>
              <a:spcAft>
                <a:spcPts val="600"/>
              </a:spcAft>
              <a:defRPr sz="950">
                <a:solidFill>
                  <a:srgbClr val="94A3B8"/>
                </a:solidFill>
                <a:latin typeface="Segoe UI"/>
              </a:defRPr>
            </a:pPr>
            <a:r>
              <a:t>Collects student's preferred name and current educational level (10th, 11th, 12th, or College). Auto-focuses name input on render using useRef.</a:t>
            </a:r>
          </a:p>
          <a:p>
            <a:pPr>
              <a:defRPr sz="850">
                <a:solidFill>
                  <a:srgbClr val="7C3AED"/>
                </a:solidFill>
                <a:latin typeface="Segoe UI"/>
              </a:defRPr>
            </a:pPr>
            <a:r>
              <a:t>Name Input • Class Chips (10th-College) • Auto-focus Ref</a:t>
            </a:r>
          </a:p>
        </p:txBody>
      </p:sp>
      <p:sp>
        <p:nvSpPr>
          <p:cNvPr id="7" name="Rounded Rectangle 6"/>
          <p:cNvSpPr/>
          <p:nvPr/>
        </p:nvSpPr>
        <p:spPr>
          <a:xfrm>
            <a:off x="4370832"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920240"/>
            <a:ext cx="3127248" cy="1874519"/>
          </a:xfrm>
          <a:prstGeom prst="rect">
            <a:avLst/>
          </a:prstGeom>
          <a:noFill/>
        </p:spPr>
        <p:txBody>
          <a:bodyPr wrap="square">
            <a:spAutoFit/>
          </a:bodyPr>
          <a:lstStyle/>
          <a:p>
            <a:pPr>
              <a:defRPr sz="1250" b="1">
                <a:solidFill>
                  <a:srgbClr val="06B6D4"/>
                </a:solidFill>
                <a:latin typeface="Segoe UI"/>
              </a:defRPr>
            </a:pPr>
            <a:r>
              <a:t>Step 2: Academics</a:t>
            </a:r>
          </a:p>
          <a:p>
            <a:pPr>
              <a:spcAft>
                <a:spcPts val="400"/>
              </a:spcAft>
              <a:defRPr sz="1050" b="1">
                <a:solidFill>
                  <a:srgbClr val="F8FAFC"/>
                </a:solidFill>
                <a:latin typeface="Segoe UI"/>
              </a:defRPr>
            </a:pPr>
            <a:r>
              <a:t>Stream &amp; Performance</a:t>
            </a:r>
          </a:p>
          <a:p>
            <a:pPr>
              <a:spcAft>
                <a:spcPts val="600"/>
              </a:spcAft>
              <a:defRPr sz="950">
                <a:solidFill>
                  <a:srgbClr val="94A3B8"/>
                </a:solidFill>
                <a:latin typeface="Segoe UI"/>
              </a:defRPr>
            </a:pPr>
            <a:r>
              <a:t>Captures academic stream (PCM, PCB, Commerce, Arts, Other) plus recent academic percentage via synchronized slider &amp; number input.</a:t>
            </a:r>
          </a:p>
          <a:p>
            <a:pPr>
              <a:defRPr sz="850">
                <a:solidFill>
                  <a:srgbClr val="7C3AED"/>
                </a:solidFill>
                <a:latin typeface="Segoe UI"/>
              </a:defRPr>
            </a:pPr>
            <a:r>
              <a:t>Stream Selection • Percentage Slider • Dual Binding</a:t>
            </a:r>
          </a:p>
        </p:txBody>
      </p:sp>
      <p:sp>
        <p:nvSpPr>
          <p:cNvPr id="9" name="Rounded Rectangle 8"/>
          <p:cNvSpPr/>
          <p:nvPr/>
        </p:nvSpPr>
        <p:spPr>
          <a:xfrm>
            <a:off x="8010144"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20240"/>
            <a:ext cx="3127248" cy="1874519"/>
          </a:xfrm>
          <a:prstGeom prst="rect">
            <a:avLst/>
          </a:prstGeom>
          <a:noFill/>
        </p:spPr>
        <p:txBody>
          <a:bodyPr wrap="square">
            <a:spAutoFit/>
          </a:bodyPr>
          <a:lstStyle/>
          <a:p>
            <a:pPr>
              <a:defRPr sz="1250" b="1">
                <a:solidFill>
                  <a:srgbClr val="06B6D4"/>
                </a:solidFill>
                <a:latin typeface="Segoe UI"/>
              </a:defRPr>
            </a:pPr>
            <a:r>
              <a:t>Step 3: Interests</a:t>
            </a:r>
          </a:p>
          <a:p>
            <a:pPr>
              <a:spcAft>
                <a:spcPts val="400"/>
              </a:spcAft>
              <a:defRPr sz="1050" b="1">
                <a:solidFill>
                  <a:srgbClr val="F8FAFC"/>
                </a:solidFill>
                <a:latin typeface="Segoe UI"/>
              </a:defRPr>
            </a:pPr>
            <a:r>
              <a:t>Curated Domain Affinity</a:t>
            </a:r>
          </a:p>
          <a:p>
            <a:pPr>
              <a:spcAft>
                <a:spcPts val="600"/>
              </a:spcAft>
              <a:defRPr sz="950">
                <a:solidFill>
                  <a:srgbClr val="94A3B8"/>
                </a:solidFill>
                <a:latin typeface="Segoe UI"/>
              </a:defRPr>
            </a:pPr>
            <a:r>
              <a:t>Presents 15 interactive domain chips (Technology, AI, Design, Business, Medicine, Law, Gaming, etc.). Multi-select state tracking.</a:t>
            </a:r>
          </a:p>
          <a:p>
            <a:pPr>
              <a:defRPr sz="850">
                <a:solidFill>
                  <a:srgbClr val="7C3AED"/>
                </a:solidFill>
                <a:latin typeface="Segoe UI"/>
              </a:defRPr>
            </a:pPr>
            <a:r>
              <a:t>15 Domain Cards • Multi-Select State • Toggle Handlers</a:t>
            </a:r>
          </a:p>
        </p:txBody>
      </p:sp>
      <p:sp>
        <p:nvSpPr>
          <p:cNvPr id="11" name="Rounded Rectangle 10"/>
          <p:cNvSpPr/>
          <p:nvPr/>
        </p:nvSpPr>
        <p:spPr>
          <a:xfrm>
            <a:off x="731520"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251960"/>
            <a:ext cx="3127248" cy="1874519"/>
          </a:xfrm>
          <a:prstGeom prst="rect">
            <a:avLst/>
          </a:prstGeom>
          <a:noFill/>
        </p:spPr>
        <p:txBody>
          <a:bodyPr wrap="square">
            <a:spAutoFit/>
          </a:bodyPr>
          <a:lstStyle/>
          <a:p>
            <a:pPr>
              <a:defRPr sz="1250" b="1">
                <a:solidFill>
                  <a:srgbClr val="06B6D4"/>
                </a:solidFill>
                <a:latin typeface="Segoe UI"/>
              </a:defRPr>
            </a:pPr>
            <a:r>
              <a:t>Step 4: Strengths</a:t>
            </a:r>
          </a:p>
          <a:p>
            <a:pPr>
              <a:spcAft>
                <a:spcPts val="400"/>
              </a:spcAft>
              <a:defRPr sz="1050" b="1">
                <a:solidFill>
                  <a:srgbClr val="F8FAFC"/>
                </a:solidFill>
                <a:latin typeface="Segoe UI"/>
              </a:defRPr>
            </a:pPr>
            <a:r>
              <a:t>Abilities &amp; Work Style</a:t>
            </a:r>
          </a:p>
          <a:p>
            <a:pPr>
              <a:spcAft>
                <a:spcPts val="600"/>
              </a:spcAft>
              <a:defRPr sz="950">
                <a:solidFill>
                  <a:srgbClr val="94A3B8"/>
                </a:solidFill>
                <a:latin typeface="Segoe UI"/>
              </a:defRPr>
            </a:pPr>
            <a:r>
              <a:t>Evaluates 9 core cognitive strengths (Problem Solving, Programming, Creativity, Leadership) and 8 work-style preferences.</a:t>
            </a:r>
          </a:p>
          <a:p>
            <a:pPr>
              <a:defRPr sz="850">
                <a:solidFill>
                  <a:srgbClr val="7C3AED"/>
                </a:solidFill>
                <a:latin typeface="Segoe UI"/>
              </a:defRPr>
            </a:pPr>
            <a:r>
              <a:t>9 Competencies • 8 Work Style Prefs • Array State Sync</a:t>
            </a:r>
          </a:p>
        </p:txBody>
      </p:sp>
      <p:sp>
        <p:nvSpPr>
          <p:cNvPr id="13" name="Rounded Rectangle 12"/>
          <p:cNvSpPr/>
          <p:nvPr/>
        </p:nvSpPr>
        <p:spPr>
          <a:xfrm>
            <a:off x="4370832"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4251960"/>
            <a:ext cx="3127248" cy="1874519"/>
          </a:xfrm>
          <a:prstGeom prst="rect">
            <a:avLst/>
          </a:prstGeom>
          <a:noFill/>
        </p:spPr>
        <p:txBody>
          <a:bodyPr wrap="square">
            <a:spAutoFit/>
          </a:bodyPr>
          <a:lstStyle/>
          <a:p>
            <a:pPr>
              <a:defRPr sz="1250" b="1">
                <a:solidFill>
                  <a:srgbClr val="06B6D4"/>
                </a:solidFill>
                <a:latin typeface="Segoe UI"/>
              </a:defRPr>
            </a:pPr>
            <a:r>
              <a:t>Step 5: Goals</a:t>
            </a:r>
          </a:p>
          <a:p>
            <a:pPr>
              <a:spcAft>
                <a:spcPts val="400"/>
              </a:spcAft>
              <a:defRPr sz="1050" b="1">
                <a:solidFill>
                  <a:srgbClr val="F8FAFC"/>
                </a:solidFill>
                <a:latin typeface="Segoe UI"/>
              </a:defRPr>
            </a:pPr>
            <a:r>
              <a:t>Career Ambitions &amp; Exams</a:t>
            </a:r>
          </a:p>
          <a:p>
            <a:pPr>
              <a:spcAft>
                <a:spcPts val="600"/>
              </a:spcAft>
              <a:defRPr sz="950">
                <a:solidFill>
                  <a:srgbClr val="94A3B8"/>
                </a:solidFill>
                <a:latin typeface="Segoe UI"/>
              </a:defRPr>
            </a:pPr>
            <a:r>
              <a:t>Identifies primary career drivers (High Salary, Work-Life Balance, Growth) and target entrance examinations (JEE, NEET, CUET, None).</a:t>
            </a:r>
          </a:p>
          <a:p>
            <a:pPr>
              <a:defRPr sz="850">
                <a:solidFill>
                  <a:srgbClr val="7C3AED"/>
                </a:solidFill>
                <a:latin typeface="Segoe UI"/>
              </a:defRPr>
            </a:pPr>
            <a:r>
              <a:t>Priority Cards • Target Exam Selector • Career Goal Tag</a:t>
            </a:r>
          </a:p>
        </p:txBody>
      </p:sp>
      <p:sp>
        <p:nvSpPr>
          <p:cNvPr id="15" name="Rounded Rectangle 14"/>
          <p:cNvSpPr/>
          <p:nvPr/>
        </p:nvSpPr>
        <p:spPr>
          <a:xfrm>
            <a:off x="8010144"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6" y="4251960"/>
            <a:ext cx="3127248" cy="1874519"/>
          </a:xfrm>
          <a:prstGeom prst="rect">
            <a:avLst/>
          </a:prstGeom>
          <a:noFill/>
        </p:spPr>
        <p:txBody>
          <a:bodyPr wrap="square">
            <a:spAutoFit/>
          </a:bodyPr>
          <a:lstStyle/>
          <a:p>
            <a:pPr>
              <a:defRPr sz="1250" b="1">
                <a:solidFill>
                  <a:srgbClr val="06B6D4"/>
                </a:solidFill>
                <a:latin typeface="Segoe UI"/>
              </a:defRPr>
            </a:pPr>
            <a:r>
              <a:t>Step 6: Summary</a:t>
            </a:r>
          </a:p>
          <a:p>
            <a:pPr>
              <a:spcAft>
                <a:spcPts val="400"/>
              </a:spcAft>
              <a:defRPr sz="1050" b="1">
                <a:solidFill>
                  <a:srgbClr val="F8FAFC"/>
                </a:solidFill>
                <a:latin typeface="Segoe UI"/>
              </a:defRPr>
            </a:pPr>
            <a:r>
              <a:t>Review &amp; Match Trigger</a:t>
            </a:r>
          </a:p>
          <a:p>
            <a:pPr>
              <a:spcAft>
                <a:spcPts val="600"/>
              </a:spcAft>
              <a:defRPr sz="950">
                <a:solidFill>
                  <a:srgbClr val="94A3B8"/>
                </a:solidFill>
                <a:latin typeface="Segoe UI"/>
              </a:defRPr>
            </a:pPr>
            <a:r>
              <a:t>Consolidates all answers into a clean verification card. Gates submission with full profile validation before launching analysis transition.</a:t>
            </a:r>
          </a:p>
          <a:p>
            <a:pPr>
              <a:defRPr sz="850">
                <a:solidFill>
                  <a:srgbClr val="7C3AED"/>
                </a:solidFill>
                <a:latin typeface="Segoe UI"/>
              </a:defRPr>
            </a:pPr>
            <a:r>
              <a:t>Profile Overview • Validation Gate • Trigger Matcher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660904"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INTERFACE ENGINEERING</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Interactive Assessment Experience &amp; UX</a:t>
            </a:r>
          </a:p>
          <a:p>
            <a:pPr>
              <a:defRPr sz="1150">
                <a:solidFill>
                  <a:srgbClr val="94A3B8"/>
                </a:solidFill>
                <a:latin typeface="Segoe UI"/>
              </a:defRPr>
            </a:pPr>
            <a:r>
              <a:t>Engineered with controlled React inputs, state validation gates, and responsive UI components.</a:t>
            </a:r>
          </a:p>
        </p:txBody>
      </p:sp>
      <p:sp>
        <p:nvSpPr>
          <p:cNvPr id="5" name="Rounded Rectangle 4"/>
          <p:cNvSpPr/>
          <p:nvPr/>
        </p:nvSpPr>
        <p:spPr>
          <a:xfrm>
            <a:off x="731520" y="1783080"/>
            <a:ext cx="5120640"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663440" cy="4114800"/>
          </a:xfrm>
          <a:prstGeom prst="rect">
            <a:avLst/>
          </a:prstGeom>
          <a:noFill/>
        </p:spPr>
        <p:txBody>
          <a:bodyPr wrap="square">
            <a:spAutoFit/>
          </a:bodyPr>
          <a:lstStyle/>
          <a:p>
            <a:pPr>
              <a:defRPr sz="1200" b="1">
                <a:solidFill>
                  <a:srgbClr val="06B6D4"/>
                </a:solidFill>
                <a:latin typeface="Segoe UI"/>
              </a:defRPr>
            </a:pPr>
            <a:r>
              <a:t>✔ Dynamic Progress Bar</a:t>
            </a:r>
          </a:p>
          <a:p>
            <a:pPr>
              <a:spcAft>
                <a:spcPts val="800"/>
              </a:spcAft>
              <a:defRPr sz="1000">
                <a:solidFill>
                  <a:srgbClr val="94A3B8"/>
                </a:solidFill>
                <a:latin typeface="Segoe UI"/>
              </a:defRPr>
            </a:pPr>
            <a:r>
              <a:t>Calculates (currentStep / totalSteps * 100)% dynamically, styled with smooth CSS gradient animations.</a:t>
            </a:r>
          </a:p>
          <a:p>
            <a:pPr>
              <a:defRPr sz="1200" b="1">
                <a:solidFill>
                  <a:srgbClr val="06B6D4"/>
                </a:solidFill>
                <a:latin typeface="Segoe UI"/>
              </a:defRPr>
            </a:pPr>
            <a:r>
              <a:t>✔ Accessible Option Cards</a:t>
            </a:r>
          </a:p>
          <a:p>
            <a:pPr>
              <a:spcAft>
                <a:spcPts val="800"/>
              </a:spcAft>
              <a:defRPr sz="1000">
                <a:solidFill>
                  <a:srgbClr val="94A3B8"/>
                </a:solidFill>
                <a:latin typeface="Segoe UI"/>
              </a:defRPr>
            </a:pPr>
            <a:r>
              <a:t>Custom OptionCard component supporting toggle, selection, and compact variants with aria-pressed accessibility.</a:t>
            </a:r>
          </a:p>
          <a:p>
            <a:pPr>
              <a:defRPr sz="1200" b="1">
                <a:solidFill>
                  <a:srgbClr val="06B6D4"/>
                </a:solidFill>
                <a:latin typeface="Segoe UI"/>
              </a:defRPr>
            </a:pPr>
            <a:r>
              <a:t>✔ Dual-Bound Academic Slider</a:t>
            </a:r>
          </a:p>
          <a:p>
            <a:pPr>
              <a:spcAft>
                <a:spcPts val="800"/>
              </a:spcAft>
              <a:defRPr sz="1000">
                <a:solidFill>
                  <a:srgbClr val="94A3B8"/>
                </a:solidFill>
                <a:latin typeface="Segoe UI"/>
              </a:defRPr>
            </a:pPr>
            <a:r>
              <a:t>Real-time synchronization between an HTML5 range slider and numeric percentage input with clamped limits (0-100).</a:t>
            </a:r>
          </a:p>
          <a:p>
            <a:pPr>
              <a:defRPr sz="1200" b="1">
                <a:solidFill>
                  <a:srgbClr val="06B6D4"/>
                </a:solidFill>
                <a:latin typeface="Segoe UI"/>
              </a:defRPr>
            </a:pPr>
            <a:r>
              <a:t>✔ Validation Gatekeeping</a:t>
            </a:r>
          </a:p>
          <a:p>
            <a:pPr>
              <a:spcAft>
                <a:spcPts val="800"/>
              </a:spcAft>
              <a:defRPr sz="1000">
                <a:solidFill>
                  <a:srgbClr val="94A3B8"/>
                </a:solidFill>
                <a:latin typeface="Segoe UI"/>
              </a:defRPr>
            </a:pPr>
            <a:r>
              <a:t>The Continue button is disabled via canContinue prop until required selections are satisfied in each step.</a:t>
            </a:r>
          </a:p>
          <a:p>
            <a:pPr>
              <a:defRPr sz="1200" b="1">
                <a:solidFill>
                  <a:srgbClr val="06B6D4"/>
                </a:solidFill>
                <a:latin typeface="Segoe UI"/>
              </a:defRPr>
            </a:pPr>
            <a:r>
              <a:t>✔ Smooth Viewport Anchoring</a:t>
            </a:r>
          </a:p>
          <a:p>
            <a:pPr>
              <a:spcAft>
                <a:spcPts val="800"/>
              </a:spcAft>
              <a:defRPr sz="1000">
                <a:solidFill>
                  <a:srgbClr val="94A3B8"/>
                </a:solidFill>
                <a:latin typeface="Segoe UI"/>
              </a:defRPr>
            </a:pPr>
            <a:r>
              <a:t>useRef anchors ensure automatic smooth scrolling to the top of the question container on step transition.</a:t>
            </a:r>
          </a:p>
        </p:txBody>
      </p:sp>
      <p:sp>
        <p:nvSpPr>
          <p:cNvPr id="7" name="Rounded Rectangle 6"/>
          <p:cNvSpPr/>
          <p:nvPr/>
        </p:nvSpPr>
        <p:spPr>
          <a:xfrm>
            <a:off x="6080760" y="1783080"/>
            <a:ext cx="5376672" cy="44805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0" y="1783080"/>
            <a:ext cx="5376672" cy="41148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783080"/>
            <a:ext cx="1828800" cy="365760"/>
          </a:xfrm>
          <a:prstGeom prst="rect">
            <a:avLst/>
          </a:prstGeom>
          <a:noFill/>
        </p:spPr>
        <p:txBody>
          <a:bodyPr wrap="none">
            <a:spAutoFit/>
          </a:bodyPr>
          <a:lstStyle/>
          <a:p>
            <a:pPr>
              <a:defRPr sz="950">
                <a:solidFill>
                  <a:srgbClr val="94A3B8"/>
                </a:solidFill>
              </a:defRPr>
            </a:pPr>
            <a:r>
              <a:t>🔴 🟡 🟢   Avenza Career Discovery Wizard</a:t>
            </a:r>
          </a:p>
        </p:txBody>
      </p:sp>
      <p:sp>
        <p:nvSpPr>
          <p:cNvPr id="10" name="TextBox 9"/>
          <p:cNvSpPr txBox="1"/>
          <p:nvPr/>
        </p:nvSpPr>
        <p:spPr>
          <a:xfrm>
            <a:off x="6309360" y="2331720"/>
            <a:ext cx="4919472" cy="3749039"/>
          </a:xfrm>
          <a:prstGeom prst="rect">
            <a:avLst/>
          </a:prstGeom>
          <a:noFill/>
        </p:spPr>
        <p:txBody>
          <a:bodyPr wrap="square">
            <a:spAutoFit/>
          </a:bodyPr>
          <a:lstStyle/>
          <a:p>
            <a:pPr>
              <a:spcAft>
                <a:spcPts val="400"/>
              </a:spcAft>
              <a:defRPr sz="1000">
                <a:solidFill>
                  <a:srgbClr val="06B6D4"/>
                </a:solidFill>
              </a:defRPr>
            </a:pPr>
            <a:r>
              <a:t>Step 2 of 6  •  Academic Background</a:t>
            </a:r>
          </a:p>
          <a:p>
            <a:pPr>
              <a:spcAft>
                <a:spcPts val="1200"/>
              </a:spcAft>
              <a:defRPr sz="1300" b="1">
                <a:solidFill>
                  <a:srgbClr val="F8FAFC"/>
                </a:solidFill>
              </a:defRPr>
            </a:pPr>
            <a:r>
              <a:t>Which academic stream best describes you?</a:t>
            </a:r>
          </a:p>
          <a:p>
            <a:pPr>
              <a:spcAft>
                <a:spcPts val="1600"/>
              </a:spcAft>
              <a:defRPr sz="1100" b="1">
                <a:solidFill>
                  <a:srgbClr val="2563EB"/>
                </a:solidFill>
              </a:defRPr>
            </a:pPr>
            <a:r>
              <a:t> [ PCM ✓ ]     [ PCB ]     [ Commerce ]     [ Arts ]     [ Other ] </a:t>
            </a:r>
          </a:p>
          <a:p>
            <a:pPr>
              <a:spcAft>
                <a:spcPts val="600"/>
              </a:spcAft>
              <a:defRPr sz="1200" b="1">
                <a:solidFill>
                  <a:srgbClr val="F8FAFC"/>
                </a:solidFill>
              </a:defRPr>
            </a:pPr>
            <a:r>
              <a:t>How were your recent academics marks?</a:t>
            </a:r>
          </a:p>
          <a:p>
            <a:pPr>
              <a:spcAft>
                <a:spcPts val="2400"/>
              </a:spcAft>
              <a:defRPr sz="1200">
                <a:solidFill>
                  <a:srgbClr val="10B981"/>
                </a:solidFill>
              </a:defRPr>
            </a:pPr>
            <a:r>
              <a:t> ━━━━━━●━━━━━━━━━━━━   [ 85 % ] </a:t>
            </a:r>
          </a:p>
          <a:p>
            <a:pPr>
              <a:defRPr sz="1100" b="1">
                <a:solidFill>
                  <a:srgbClr val="06B6D4"/>
                </a:solidFill>
              </a:defRPr>
            </a:pPr>
            <a:r>
              <a:t> [ ← Back ]                                    [ Continue → ]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76148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ALGORITHM ARCHITECTURE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Career Recommendation System Logic</a:t>
            </a:r>
          </a:p>
          <a:p>
            <a:pPr>
              <a:defRPr sz="1150">
                <a:solidFill>
                  <a:srgbClr val="94A3B8"/>
                </a:solidFill>
                <a:latin typeface="Segoe UI"/>
              </a:defRPr>
            </a:pPr>
            <a:r>
              <a:t>Deterministic, multi-criteria compatibility algorithm executing client-side in O(N) evaluation time.</a:t>
            </a:r>
          </a:p>
        </p:txBody>
      </p:sp>
      <p:sp>
        <p:nvSpPr>
          <p:cNvPr id="5" name="Rounded Rectangle 4"/>
          <p:cNvSpPr/>
          <p:nvPr/>
        </p:nvSpPr>
        <p:spPr>
          <a:xfrm>
            <a:off x="731520" y="1783080"/>
            <a:ext cx="5120640"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663440" cy="4114800"/>
          </a:xfrm>
          <a:prstGeom prst="rect">
            <a:avLst/>
          </a:prstGeom>
          <a:noFill/>
        </p:spPr>
        <p:txBody>
          <a:bodyPr wrap="square">
            <a:spAutoFit/>
          </a:bodyPr>
          <a:lstStyle/>
          <a:p>
            <a:pPr>
              <a:spcAft>
                <a:spcPts val="1000"/>
              </a:spcAft>
              <a:defRPr sz="1400" b="1">
                <a:solidFill>
                  <a:srgbClr val="F8FAFC"/>
                </a:solidFill>
              </a:defRPr>
            </a:pPr>
            <a:r>
              <a:t>⚖ Weighted Matching Criteria</a:t>
            </a:r>
          </a:p>
          <a:p>
            <a:pPr>
              <a:defRPr sz="1100" b="1">
                <a:solidFill>
                  <a:srgbClr val="06B6D4"/>
                </a:solidFill>
              </a:defRPr>
            </a:pPr>
            <a:r>
              <a:t>• Domain Interests Match (35%)</a:t>
            </a:r>
          </a:p>
          <a:p>
            <a:pPr>
              <a:spcAft>
                <a:spcPts val="600"/>
              </a:spcAft>
              <a:defRPr sz="950">
                <a:solidFill>
                  <a:srgbClr val="94A3B8"/>
                </a:solidFill>
              </a:defRPr>
            </a:pPr>
            <a:r>
              <a:t>Direct intersection between student's selected 15 domain chips and the career's primary interest category.</a:t>
            </a:r>
          </a:p>
          <a:p>
            <a:pPr>
              <a:defRPr sz="1100" b="1">
                <a:solidFill>
                  <a:srgbClr val="06B6D4"/>
                </a:solidFill>
              </a:defRPr>
            </a:pPr>
            <a:r>
              <a:t>• Academic Stream Alignment (25%)</a:t>
            </a:r>
          </a:p>
          <a:p>
            <a:pPr>
              <a:spcAft>
                <a:spcPts val="600"/>
              </a:spcAft>
              <a:defRPr sz="950">
                <a:solidFill>
                  <a:srgbClr val="94A3B8"/>
                </a:solidFill>
              </a:defRPr>
            </a:pPr>
            <a:r>
              <a:t>Verification of stream prerequisites (e.g. Science/PCM required for Engineering, PCB for Medicine).</a:t>
            </a:r>
          </a:p>
          <a:p>
            <a:pPr>
              <a:defRPr sz="1100" b="1">
                <a:solidFill>
                  <a:srgbClr val="06B6D4"/>
                </a:solidFill>
              </a:defRPr>
            </a:pPr>
            <a:r>
              <a:t>• Cognitive Strengths Fit (20%)</a:t>
            </a:r>
          </a:p>
          <a:p>
            <a:pPr>
              <a:spcAft>
                <a:spcPts val="600"/>
              </a:spcAft>
              <a:defRPr sz="950">
                <a:solidFill>
                  <a:srgbClr val="94A3B8"/>
                </a:solidFill>
              </a:defRPr>
            </a:pPr>
            <a:r>
              <a:t>Evaluates shared competencies between user-selected strengths and mandatory career skill profiles.</a:t>
            </a:r>
          </a:p>
          <a:p>
            <a:pPr>
              <a:defRPr sz="1100" b="1">
                <a:solidFill>
                  <a:srgbClr val="06B6D4"/>
                </a:solidFill>
              </a:defRPr>
            </a:pPr>
            <a:r>
              <a:t>• Academic Performance Index (10%)</a:t>
            </a:r>
          </a:p>
          <a:p>
            <a:pPr>
              <a:spcAft>
                <a:spcPts val="600"/>
              </a:spcAft>
              <a:defRPr sz="950">
                <a:solidFill>
                  <a:srgbClr val="94A3B8"/>
                </a:solidFill>
              </a:defRPr>
            </a:pPr>
            <a:r>
              <a:t>Calibrates career entrance difficulty rating against student's reported academic marks percentage.</a:t>
            </a:r>
          </a:p>
          <a:p>
            <a:pPr>
              <a:defRPr sz="1100" b="1">
                <a:solidFill>
                  <a:srgbClr val="06B6D4"/>
                </a:solidFill>
              </a:defRPr>
            </a:pPr>
            <a:r>
              <a:t>• Career Priorities &amp; Ambitions (10%)</a:t>
            </a:r>
          </a:p>
          <a:p>
            <a:pPr>
              <a:spcAft>
                <a:spcPts val="600"/>
              </a:spcAft>
              <a:defRPr sz="950">
                <a:solidFill>
                  <a:srgbClr val="94A3B8"/>
                </a:solidFill>
              </a:defRPr>
            </a:pPr>
            <a:r>
              <a:t>Correlates student drivers (High Salary, Work-Life Balance, Growth) with career job characteristics.</a:t>
            </a:r>
          </a:p>
        </p:txBody>
      </p:sp>
      <p:sp>
        <p:nvSpPr>
          <p:cNvPr id="7" name="Rounded Rectangle 6"/>
          <p:cNvSpPr/>
          <p:nvPr/>
        </p:nvSpPr>
        <p:spPr>
          <a:xfrm>
            <a:off x="6080760" y="1783080"/>
            <a:ext cx="5376672" cy="44805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965960"/>
            <a:ext cx="4919472" cy="4114800"/>
          </a:xfrm>
          <a:prstGeom prst="rect">
            <a:avLst/>
          </a:prstGeom>
          <a:noFill/>
        </p:spPr>
        <p:txBody>
          <a:bodyPr wrap="square">
            <a:spAutoFit/>
          </a:bodyPr>
          <a:lstStyle/>
          <a:p>
            <a:pPr>
              <a:spcAft>
                <a:spcPts val="1200"/>
              </a:spcAft>
              <a:defRPr sz="1400" b="1">
                <a:solidFill>
                  <a:srgbClr val="10B981"/>
                </a:solidFill>
              </a:defRPr>
            </a:pPr>
            <a:r>
              <a:t>⚙ Calculation Pipeline (careerMatcher.js)</a:t>
            </a:r>
          </a:p>
          <a:p>
            <a:pPr>
              <a:defRPr sz="1100" b="1">
                <a:solidFill>
                  <a:srgbClr val="F8FAFC"/>
                </a:solidFill>
              </a:defRPr>
            </a:pPr>
            <a:r>
              <a:t>1. Profile Ingestion</a:t>
            </a:r>
          </a:p>
          <a:p>
            <a:pPr>
              <a:spcAft>
                <a:spcPts val="400"/>
              </a:spcAft>
              <a:defRPr sz="950">
                <a:solidFill>
                  <a:srgbClr val="94A3B8"/>
                </a:solidFill>
              </a:defRPr>
            </a:pPr>
            <a:r>
              <a:t>Reads verified responses from useCareerAssessment state object.</a:t>
            </a:r>
          </a:p>
          <a:p>
            <a:pPr>
              <a:defRPr sz="1100" b="1">
                <a:solidFill>
                  <a:srgbClr val="F8FAFC"/>
                </a:solidFill>
              </a:defRPr>
            </a:pPr>
            <a:r>
              <a:t>2. Catalog Iteration</a:t>
            </a:r>
          </a:p>
          <a:p>
            <a:pPr>
              <a:spcAft>
                <a:spcPts val="400"/>
              </a:spcAft>
              <a:defRPr sz="950">
                <a:solidFill>
                  <a:srgbClr val="94A3B8"/>
                </a:solidFill>
              </a:defRPr>
            </a:pPr>
            <a:r>
              <a:t>Iterates through curated dataset of multi-disciplinary careers.</a:t>
            </a:r>
          </a:p>
          <a:p>
            <a:pPr>
              <a:defRPr sz="1100" b="1">
                <a:solidFill>
                  <a:srgbClr val="F8FAFC"/>
                </a:solidFill>
              </a:defRPr>
            </a:pPr>
            <a:r>
              <a:t>3. Weighted Scoring</a:t>
            </a:r>
          </a:p>
          <a:p>
            <a:pPr>
              <a:spcAft>
                <a:spcPts val="400"/>
              </a:spcAft>
              <a:defRPr sz="950">
                <a:solidFill>
                  <a:srgbClr val="94A3B8"/>
                </a:solidFill>
              </a:defRPr>
            </a:pPr>
            <a:r>
              <a:t>Computes affinity points across interests, stream, skills, and marks.</a:t>
            </a:r>
          </a:p>
          <a:p>
            <a:pPr>
              <a:defRPr sz="1100" b="1">
                <a:solidFill>
                  <a:srgbClr val="F8FAFC"/>
                </a:solidFill>
              </a:defRPr>
            </a:pPr>
            <a:r>
              <a:t>4. Score Normalization</a:t>
            </a:r>
          </a:p>
          <a:p>
            <a:pPr>
              <a:spcAft>
                <a:spcPts val="400"/>
              </a:spcAft>
              <a:defRPr sz="950">
                <a:solidFill>
                  <a:srgbClr val="94A3B8"/>
                </a:solidFill>
              </a:defRPr>
            </a:pPr>
            <a:r>
              <a:t>Clamps compatibility rating to a standardized 0% – 100% scale.</a:t>
            </a:r>
          </a:p>
          <a:p>
            <a:pPr>
              <a:defRPr sz="1100" b="1">
                <a:solidFill>
                  <a:srgbClr val="F8FAFC"/>
                </a:solidFill>
              </a:defRPr>
            </a:pPr>
            <a:r>
              <a:t>5. Rationale Generation</a:t>
            </a:r>
          </a:p>
          <a:p>
            <a:pPr>
              <a:spcAft>
                <a:spcPts val="400"/>
              </a:spcAft>
              <a:defRPr sz="950">
                <a:solidFill>
                  <a:srgbClr val="94A3B8"/>
                </a:solidFill>
              </a:defRPr>
            </a:pPr>
            <a:r>
              <a:t>Generates custom personalized justification string for each match.</a:t>
            </a:r>
          </a:p>
          <a:p>
            <a:pPr>
              <a:defRPr sz="1100" b="1">
                <a:solidFill>
                  <a:srgbClr val="F8FAFC"/>
                </a:solidFill>
              </a:defRPr>
            </a:pPr>
            <a:r>
              <a:t>6. Ranked Sorting</a:t>
            </a:r>
          </a:p>
          <a:p>
            <a:pPr>
              <a:spcAft>
                <a:spcPts val="400"/>
              </a:spcAft>
              <a:defRPr sz="950">
                <a:solidFill>
                  <a:srgbClr val="94A3B8"/>
                </a:solidFill>
              </a:defRPr>
            </a:pPr>
            <a:r>
              <a:t>Sorts career catalog descending by match score and returns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6440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RECOMMENDATION INTELLIGENCE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Career Results &amp; Output Intelligence</a:t>
            </a:r>
          </a:p>
          <a:p>
            <a:pPr>
              <a:defRPr sz="1150">
                <a:solidFill>
                  <a:srgbClr val="94A3B8"/>
                </a:solidFill>
                <a:latin typeface="Segoe UI"/>
              </a:defRPr>
            </a:pPr>
            <a:r>
              <a:t>Rich occupational profiles displaying match rationale, skill requirements, salary, and growth metrics.</a:t>
            </a:r>
          </a:p>
        </p:txBody>
      </p:sp>
      <p:sp>
        <p:nvSpPr>
          <p:cNvPr id="5" name="Rounded Rectangle 4"/>
          <p:cNvSpPr/>
          <p:nvPr/>
        </p:nvSpPr>
        <p:spPr>
          <a:xfrm>
            <a:off x="731520" y="1783080"/>
            <a:ext cx="5120640"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663440" cy="4114800"/>
          </a:xfrm>
          <a:prstGeom prst="rect">
            <a:avLst/>
          </a:prstGeom>
          <a:noFill/>
        </p:spPr>
        <p:txBody>
          <a:bodyPr wrap="square">
            <a:spAutoFit/>
          </a:bodyPr>
          <a:lstStyle/>
          <a:p>
            <a:pPr>
              <a:spcAft>
                <a:spcPts val="1000"/>
              </a:spcAft>
              <a:defRPr sz="1400" b="1">
                <a:solidFill>
                  <a:srgbClr val="F8FAFC"/>
                </a:solidFill>
              </a:defRPr>
            </a:pPr>
            <a:r>
              <a:t>📋 6 Core Intelligence Signals</a:t>
            </a:r>
          </a:p>
          <a:p>
            <a:pPr>
              <a:defRPr sz="1100" b="1">
                <a:solidFill>
                  <a:srgbClr val="06B6D4"/>
                </a:solidFill>
              </a:defRPr>
            </a:pPr>
            <a:r>
              <a:t>✔ Circular Match Ring</a:t>
            </a:r>
          </a:p>
          <a:p>
            <a:pPr>
              <a:spcAft>
                <a:spcPts val="600"/>
              </a:spcAft>
              <a:defRPr sz="950">
                <a:solidFill>
                  <a:srgbClr val="94A3B8"/>
                </a:solidFill>
              </a:defRPr>
            </a:pPr>
            <a:r>
              <a:t>Custom MatchScore SVG indicator visually displaying compatibility percentage with animated stroke fill.</a:t>
            </a:r>
          </a:p>
          <a:p>
            <a:pPr>
              <a:defRPr sz="1100" b="1">
                <a:solidFill>
                  <a:srgbClr val="06B6D4"/>
                </a:solidFill>
              </a:defRPr>
            </a:pPr>
            <a:r>
              <a:t>✔ Personalized Rationale</a:t>
            </a:r>
          </a:p>
          <a:p>
            <a:pPr>
              <a:spcAft>
                <a:spcPts val="600"/>
              </a:spcAft>
              <a:defRPr sz="950">
                <a:solidFill>
                  <a:srgbClr val="94A3B8"/>
                </a:solidFill>
              </a:defRPr>
            </a:pPr>
            <a:r>
              <a:t>Dynamic text explaining specifically why this role fits the student's stream and chosen cognitive strengths.</a:t>
            </a:r>
          </a:p>
          <a:p>
            <a:pPr>
              <a:defRPr sz="1100" b="1">
                <a:solidFill>
                  <a:srgbClr val="06B6D4"/>
                </a:solidFill>
              </a:defRPr>
            </a:pPr>
            <a:r>
              <a:t>✔ Required Skills Badges</a:t>
            </a:r>
          </a:p>
          <a:p>
            <a:pPr>
              <a:spcAft>
                <a:spcPts val="600"/>
              </a:spcAft>
              <a:defRPr sz="950">
                <a:solidFill>
                  <a:srgbClr val="94A3B8"/>
                </a:solidFill>
              </a:defRPr>
            </a:pPr>
            <a:r>
              <a:t>Interactive tags outlining technical and non-technical proficiencies required for success.</a:t>
            </a:r>
          </a:p>
          <a:p>
            <a:pPr>
              <a:defRPr sz="1100" b="1">
                <a:solidFill>
                  <a:srgbClr val="06B6D4"/>
                </a:solidFill>
              </a:defRPr>
            </a:pPr>
            <a:r>
              <a:t>✔ Economic Outlook</a:t>
            </a:r>
          </a:p>
          <a:p>
            <a:pPr>
              <a:spcAft>
                <a:spcPts val="600"/>
              </a:spcAft>
              <a:defRPr sz="950">
                <a:solidFill>
                  <a:srgbClr val="94A3B8"/>
                </a:solidFill>
              </a:defRPr>
            </a:pPr>
            <a:r>
              <a:t>Estimated entry-level to experienced salary spectrum (e.g. ₹8 - 25 LPA) and 5-year growth trajectory.</a:t>
            </a:r>
          </a:p>
          <a:p>
            <a:pPr>
              <a:defRPr sz="1100" b="1">
                <a:solidFill>
                  <a:srgbClr val="06B6D4"/>
                </a:solidFill>
              </a:defRPr>
            </a:pPr>
            <a:r>
              <a:t>✔ Difficulty Classification</a:t>
            </a:r>
          </a:p>
          <a:p>
            <a:pPr>
              <a:spcAft>
                <a:spcPts val="600"/>
              </a:spcAft>
              <a:defRPr sz="950">
                <a:solidFill>
                  <a:srgbClr val="94A3B8"/>
                </a:solidFill>
              </a:defRPr>
            </a:pPr>
            <a:r>
              <a:t>Entry barrier index classifying academic intensity (Moderate, High, Very High).</a:t>
            </a:r>
          </a:p>
          <a:p>
            <a:pPr>
              <a:defRPr sz="1100" b="1">
                <a:solidFill>
                  <a:srgbClr val="06B6D4"/>
                </a:solidFill>
              </a:defRPr>
            </a:pPr>
            <a:r>
              <a:t>✔ Action Integrations</a:t>
            </a:r>
          </a:p>
          <a:p>
            <a:pPr>
              <a:spcAft>
                <a:spcPts val="600"/>
              </a:spcAft>
              <a:defRPr sz="950">
                <a:solidFill>
                  <a:srgbClr val="94A3B8"/>
                </a:solidFill>
              </a:defRPr>
            </a:pPr>
            <a:r>
              <a:t>Direct triggers to 'Save Career' into Dashboard or view deep-dive details via dynamic routes.</a:t>
            </a:r>
          </a:p>
        </p:txBody>
      </p:sp>
      <p:sp>
        <p:nvSpPr>
          <p:cNvPr id="7" name="Rounded Rectangle 6"/>
          <p:cNvSpPr/>
          <p:nvPr/>
        </p:nvSpPr>
        <p:spPr>
          <a:xfrm>
            <a:off x="6080760" y="1783080"/>
            <a:ext cx="5376672" cy="44805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965960"/>
            <a:ext cx="4919472" cy="4114800"/>
          </a:xfrm>
          <a:prstGeom prst="rect">
            <a:avLst/>
          </a:prstGeom>
          <a:noFill/>
        </p:spPr>
        <p:txBody>
          <a:bodyPr wrap="square">
            <a:spAutoFit/>
          </a:bodyPr>
          <a:lstStyle/>
          <a:p>
            <a:pPr>
              <a:spcAft>
                <a:spcPts val="400"/>
              </a:spcAft>
              <a:defRPr sz="1000">
                <a:solidFill>
                  <a:srgbClr val="06B6D4"/>
                </a:solidFill>
              </a:defRPr>
            </a:pPr>
            <a:r>
              <a:t>🎯 Top Recommendation Match</a:t>
            </a:r>
          </a:p>
          <a:p>
            <a:pPr>
              <a:spcAft>
                <a:spcPts val="200"/>
              </a:spcAft>
              <a:defRPr sz="1600" b="1">
                <a:solidFill>
                  <a:srgbClr val="F8FAFC"/>
                </a:solidFill>
              </a:defRPr>
            </a:pPr>
            <a:r>
              <a:t>Artificial Intelligence Engineer</a:t>
            </a:r>
          </a:p>
          <a:p>
            <a:pPr>
              <a:spcAft>
                <a:spcPts val="1000"/>
              </a:spcAft>
              <a:defRPr sz="950">
                <a:solidFill>
                  <a:srgbClr val="7C3AED"/>
                </a:solidFill>
              </a:defRPr>
            </a:pPr>
            <a:r>
              <a:t>Category: Technology &amp; Computer Science  •  Difficulty: High</a:t>
            </a:r>
          </a:p>
          <a:p>
            <a:pPr>
              <a:spcAft>
                <a:spcPts val="1000"/>
              </a:spcAft>
              <a:defRPr sz="1150" b="1">
                <a:solidFill>
                  <a:srgbClr val="10B981"/>
                </a:solidFill>
              </a:defRPr>
            </a:pPr>
            <a:r>
              <a:t> [ ⭕ 95% Match Score ]      Salary: ₹12 - 35 LPA      Growth: Very High </a:t>
            </a:r>
          </a:p>
          <a:p>
            <a:pPr>
              <a:spcAft>
                <a:spcPts val="1000"/>
              </a:spcAft>
              <a:defRPr sz="1000">
                <a:solidFill>
                  <a:srgbClr val="94A3B8"/>
                </a:solidFill>
              </a:defRPr>
            </a:pPr>
            <a:r>
              <a:t>Why it matches: Your strong background in PCM, high academic score in mathematics, and selected passion for programming and AI algorithms make you an ideal candidate for AI engineering.</a:t>
            </a:r>
          </a:p>
          <a:p>
            <a:pPr>
              <a:spcAft>
                <a:spcPts val="1400"/>
              </a:spcAft>
              <a:defRPr sz="950" b="1">
                <a:solidFill>
                  <a:srgbClr val="06B6D4"/>
                </a:solidFill>
              </a:defRPr>
            </a:pPr>
            <a:r>
              <a:t>Required Skills: [ Python ] [ Machine Learning ] [ Linear Algebra ] [ PyTorch ]</a:t>
            </a:r>
          </a:p>
          <a:p>
            <a:pPr>
              <a:defRPr sz="1100" b="1">
                <a:solidFill>
                  <a:srgbClr val="2563EB"/>
                </a:solidFill>
              </a:defRPr>
            </a:pPr>
            <a:r>
              <a:t> [ 💾 Bookmark Career ]                       [ View Career Details →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25856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STUDENT WORKSPACE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User Dashboard: Career Management Hub</a:t>
            </a:r>
          </a:p>
          <a:p>
            <a:pPr>
              <a:defRPr sz="1150">
                <a:solidFill>
                  <a:srgbClr val="94A3B8"/>
                </a:solidFill>
                <a:latin typeface="Segoe UI"/>
              </a:defRPr>
            </a:pPr>
            <a:r>
              <a:t>A protected multi-view dashboard enabling students to curate, monitor, and adapt their career portfolio.</a:t>
            </a:r>
          </a:p>
        </p:txBody>
      </p:sp>
      <p:sp>
        <p:nvSpPr>
          <p:cNvPr id="5" name="Rounded Rectangle 4"/>
          <p:cNvSpPr/>
          <p:nvPr/>
        </p:nvSpPr>
        <p:spPr>
          <a:xfrm>
            <a:off x="731520" y="1783080"/>
            <a:ext cx="5120640"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663440" cy="4114800"/>
          </a:xfrm>
          <a:prstGeom prst="rect">
            <a:avLst/>
          </a:prstGeom>
          <a:noFill/>
        </p:spPr>
        <p:txBody>
          <a:bodyPr wrap="square">
            <a:spAutoFit/>
          </a:bodyPr>
          <a:lstStyle/>
          <a:p>
            <a:pPr>
              <a:spcAft>
                <a:spcPts val="1000"/>
              </a:spcAft>
              <a:defRPr sz="1400" b="1">
                <a:solidFill>
                  <a:srgbClr val="F8FAFC"/>
                </a:solidFill>
              </a:defRPr>
            </a:pPr>
            <a:r>
              <a:t>💼 Dashboard Capabilities</a:t>
            </a:r>
          </a:p>
          <a:p>
            <a:pPr>
              <a:defRPr sz="1100" b="1">
                <a:solidFill>
                  <a:srgbClr val="06B6D4"/>
                </a:solidFill>
              </a:defRPr>
            </a:pPr>
            <a:r>
              <a:t>✔ Overview Command Center</a:t>
            </a:r>
          </a:p>
          <a:p>
            <a:pPr>
              <a:spcAft>
                <a:spcPts val="600"/>
              </a:spcAft>
              <a:defRPr sz="950">
                <a:solidFill>
                  <a:srgbClr val="94A3B8"/>
                </a:solidFill>
              </a:defRPr>
            </a:pPr>
            <a:r>
              <a:t>Personalized welcome header, active saved career count, and authenticated user email status.</a:t>
            </a:r>
          </a:p>
          <a:p>
            <a:pPr>
              <a:defRPr sz="1100" b="1">
                <a:solidFill>
                  <a:srgbClr val="06B6D4"/>
                </a:solidFill>
              </a:defRPr>
            </a:pPr>
            <a:r>
              <a:t>✔ Career Journey Tracker</a:t>
            </a:r>
          </a:p>
          <a:p>
            <a:pPr>
              <a:spcAft>
                <a:spcPts val="600"/>
              </a:spcAft>
              <a:defRPr sz="950">
                <a:solidFill>
                  <a:srgbClr val="94A3B8"/>
                </a:solidFill>
              </a:defRPr>
            </a:pPr>
            <a:r>
              <a:t>Directly visualizes student's top match readiness score and academic stream alignment status.</a:t>
            </a:r>
          </a:p>
          <a:p>
            <a:pPr>
              <a:defRPr sz="1100" b="1">
                <a:solidFill>
                  <a:srgbClr val="06B6D4"/>
                </a:solidFill>
              </a:defRPr>
            </a:pPr>
            <a:r>
              <a:t>✔ Saved Careers Manager</a:t>
            </a:r>
          </a:p>
          <a:p>
            <a:pPr>
              <a:spcAft>
                <a:spcPts val="600"/>
              </a:spcAft>
              <a:defRPr sz="950">
                <a:solidFill>
                  <a:srgbClr val="94A3B8"/>
                </a:solidFill>
              </a:defRPr>
            </a:pPr>
            <a:r>
              <a:t>Curated bookmark library allowing users to inspect saved roles, compare metrics, or remove items.</a:t>
            </a:r>
          </a:p>
          <a:p>
            <a:pPr>
              <a:defRPr sz="1100" b="1">
                <a:solidFill>
                  <a:srgbClr val="06B6D4"/>
                </a:solidFill>
              </a:defRPr>
            </a:pPr>
            <a:r>
              <a:t>✔ Profile Management Hub</a:t>
            </a:r>
          </a:p>
          <a:p>
            <a:pPr>
              <a:spcAft>
                <a:spcPts val="600"/>
              </a:spcAft>
              <a:defRPr sz="950">
                <a:solidFill>
                  <a:srgbClr val="94A3B8"/>
                </a:solidFill>
              </a:defRPr>
            </a:pPr>
            <a:r>
              <a:t>Controlled form allowing students to adjust preferences (stream, marks, interests) without retaking full assessment.</a:t>
            </a:r>
          </a:p>
          <a:p>
            <a:pPr>
              <a:defRPr sz="1100" b="1">
                <a:solidFill>
                  <a:srgbClr val="06B6D4"/>
                </a:solidFill>
              </a:defRPr>
            </a:pPr>
            <a:r>
              <a:t>✔ Daily Inspiration Widget</a:t>
            </a:r>
          </a:p>
          <a:p>
            <a:pPr>
              <a:spcAft>
                <a:spcPts val="600"/>
              </a:spcAft>
              <a:defRPr sz="950">
                <a:solidFill>
                  <a:srgbClr val="94A3B8"/>
                </a:solidFill>
              </a:defRPr>
            </a:pPr>
            <a:r>
              <a:t>Asynchronous API integration pulling live career wisdom with refresh and retry controls.</a:t>
            </a:r>
          </a:p>
        </p:txBody>
      </p:sp>
      <p:sp>
        <p:nvSpPr>
          <p:cNvPr id="7" name="Rounded Rectangle 6"/>
          <p:cNvSpPr/>
          <p:nvPr/>
        </p:nvSpPr>
        <p:spPr>
          <a:xfrm>
            <a:off x="6080760" y="1783080"/>
            <a:ext cx="5376672" cy="44805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965960"/>
            <a:ext cx="4919472" cy="4114800"/>
          </a:xfrm>
          <a:prstGeom prst="rect">
            <a:avLst/>
          </a:prstGeom>
          <a:noFill/>
        </p:spPr>
        <p:txBody>
          <a:bodyPr wrap="square">
            <a:spAutoFit/>
          </a:bodyPr>
          <a:lstStyle/>
          <a:p>
            <a:pPr>
              <a:spcAft>
                <a:spcPts val="200"/>
              </a:spcAft>
              <a:defRPr sz="1600" b="1">
                <a:solidFill>
                  <a:srgbClr val="F8FAFC"/>
                </a:solidFill>
              </a:defRPr>
            </a:pPr>
            <a:r>
              <a:t>👋 Welcome back, Aarav!</a:t>
            </a:r>
          </a:p>
          <a:p>
            <a:pPr>
              <a:spcAft>
                <a:spcPts val="1000"/>
              </a:spcAft>
              <a:defRPr sz="950">
                <a:solidFill>
                  <a:srgbClr val="94A3B8"/>
                </a:solidFill>
              </a:defRPr>
            </a:pPr>
            <a:r>
              <a:t>Manage your career journey and review saved trajectories.</a:t>
            </a:r>
          </a:p>
          <a:p>
            <a:pPr>
              <a:spcAft>
                <a:spcPts val="1200"/>
              </a:spcAft>
              <a:defRPr sz="1050" b="1">
                <a:solidFill>
                  <a:srgbClr val="06B6D4"/>
                </a:solidFill>
              </a:defRPr>
            </a:pPr>
            <a:r>
              <a:t> [ 📁 4 Saved Careers ]             [ 👤 Signed in: aarav@example.com ] </a:t>
            </a:r>
          </a:p>
          <a:p>
            <a:pPr>
              <a:spcAft>
                <a:spcPts val="400"/>
              </a:spcAft>
              <a:defRPr sz="1100" b="1">
                <a:solidFill>
                  <a:srgbClr val="F8FAFC"/>
                </a:solidFill>
              </a:defRPr>
            </a:pPr>
            <a:r>
              <a:t>⚡ Quick Actions:</a:t>
            </a:r>
          </a:p>
          <a:p>
            <a:pPr>
              <a:spcAft>
                <a:spcPts val="1200"/>
              </a:spcAft>
              <a:defRPr sz="1000">
                <a:solidFill>
                  <a:srgbClr val="2563EB"/>
                </a:solidFill>
              </a:defRPr>
            </a:pPr>
            <a:r>
              <a:t> [ 🚀 Take Career Assessment ]     [ 📑 View Saved Careers ] </a:t>
            </a:r>
          </a:p>
          <a:p>
            <a:pPr>
              <a:spcAft>
                <a:spcPts val="400"/>
              </a:spcAft>
              <a:defRPr sz="1100" b="1">
                <a:solidFill>
                  <a:srgbClr val="10B981"/>
                </a:solidFill>
              </a:defRPr>
            </a:pPr>
            <a:r>
              <a:t>📈 Your Career Journey: Top Match: AI Engineer (95%)</a:t>
            </a:r>
          </a:p>
          <a:p>
            <a:pPr>
              <a:defRPr sz="1000">
                <a:solidFill>
                  <a:srgbClr val="94A3B8"/>
                </a:solidFill>
              </a:defRPr>
            </a:pPr>
            <a:r>
              <a:t> Progress: ███████████████████ 95%  •  Stream: PCM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359152"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ENGINEERING DESIGN</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Frontend Architecture &amp; Directory Structure</a:t>
            </a:r>
          </a:p>
          <a:p>
            <a:pPr>
              <a:defRPr sz="1150">
                <a:solidFill>
                  <a:srgbClr val="94A3B8"/>
                </a:solidFill>
                <a:latin typeface="Segoe UI"/>
              </a:defRPr>
            </a:pPr>
            <a:r>
              <a:t>Modular component hierarchy separating presentation, domain data, custom hooks, and persistence.</a:t>
            </a:r>
          </a:p>
        </p:txBody>
      </p:sp>
      <p:sp>
        <p:nvSpPr>
          <p:cNvPr id="5" name="Rounded Rectangle 4"/>
          <p:cNvSpPr/>
          <p:nvPr/>
        </p:nvSpPr>
        <p:spPr>
          <a:xfrm>
            <a:off x="731520"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47672"/>
            <a:ext cx="3127248" cy="1828800"/>
          </a:xfrm>
          <a:prstGeom prst="rect">
            <a:avLst/>
          </a:prstGeom>
          <a:noFill/>
        </p:spPr>
        <p:txBody>
          <a:bodyPr wrap="square">
            <a:spAutoFit/>
          </a:bodyPr>
          <a:lstStyle/>
          <a:p>
            <a:pPr>
              <a:defRPr sz="1200" b="1">
                <a:solidFill>
                  <a:srgbClr val="06B6D4"/>
                </a:solidFill>
              </a:defRPr>
            </a:pPr>
            <a:r>
              <a:t>Layer 1: Entry &amp; Router</a:t>
            </a:r>
          </a:p>
          <a:p>
            <a:pPr>
              <a:spcAft>
                <a:spcPts val="400"/>
              </a:spcAft>
              <a:defRPr sz="950" b="1">
                <a:solidFill>
                  <a:srgbClr val="2563EB"/>
                </a:solidFill>
              </a:defRPr>
            </a:pPr>
            <a:r>
              <a:t>src/App.jsx &amp; src/main.jsx</a:t>
            </a:r>
          </a:p>
          <a:p>
            <a:pPr>
              <a:defRPr sz="1000">
                <a:solidFill>
                  <a:srgbClr val="94A3B8"/>
                </a:solidFill>
              </a:defRPr>
            </a:pPr>
            <a:r>
              <a:t>Configures React Router v6 routing hierarchy, AuthProvider context wrapper, and MainLayout shell.</a:t>
            </a:r>
          </a:p>
        </p:txBody>
      </p:sp>
      <p:sp>
        <p:nvSpPr>
          <p:cNvPr id="7" name="Rounded Rectangle 6"/>
          <p:cNvSpPr/>
          <p:nvPr/>
        </p:nvSpPr>
        <p:spPr>
          <a:xfrm>
            <a:off x="4370832"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947672"/>
            <a:ext cx="3127248" cy="1828800"/>
          </a:xfrm>
          <a:prstGeom prst="rect">
            <a:avLst/>
          </a:prstGeom>
          <a:noFill/>
        </p:spPr>
        <p:txBody>
          <a:bodyPr wrap="square">
            <a:spAutoFit/>
          </a:bodyPr>
          <a:lstStyle/>
          <a:p>
            <a:pPr>
              <a:defRPr sz="1200" b="1">
                <a:solidFill>
                  <a:srgbClr val="06B6D4"/>
                </a:solidFill>
              </a:defRPr>
            </a:pPr>
            <a:r>
              <a:t>Layer 2: Views &amp; Pages</a:t>
            </a:r>
          </a:p>
          <a:p>
            <a:pPr>
              <a:spcAft>
                <a:spcPts val="400"/>
              </a:spcAft>
              <a:defRPr sz="950" b="1">
                <a:solidFill>
                  <a:srgbClr val="2563EB"/>
                </a:solidFill>
              </a:defRPr>
            </a:pPr>
            <a:r>
              <a:t>src/pages/*</a:t>
            </a:r>
          </a:p>
          <a:p>
            <a:pPr>
              <a:defRPr sz="1000">
                <a:solidFill>
                  <a:srgbClr val="94A3B8"/>
                </a:solidFill>
              </a:defRPr>
            </a:pPr>
            <a:r>
              <a:t>Encapsulates Home, About, Features, FAQ, CareerDiscovery wizard, CareerResults, CareerDetails, Dashboard, and Login.</a:t>
            </a:r>
          </a:p>
        </p:txBody>
      </p:sp>
      <p:sp>
        <p:nvSpPr>
          <p:cNvPr id="9" name="Rounded Rectangle 8"/>
          <p:cNvSpPr/>
          <p:nvPr/>
        </p:nvSpPr>
        <p:spPr>
          <a:xfrm>
            <a:off x="8010144" y="178308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47672"/>
            <a:ext cx="3127248" cy="1828800"/>
          </a:xfrm>
          <a:prstGeom prst="rect">
            <a:avLst/>
          </a:prstGeom>
          <a:noFill/>
        </p:spPr>
        <p:txBody>
          <a:bodyPr wrap="square">
            <a:spAutoFit/>
          </a:bodyPr>
          <a:lstStyle/>
          <a:p>
            <a:pPr>
              <a:defRPr sz="1200" b="1">
                <a:solidFill>
                  <a:srgbClr val="06B6D4"/>
                </a:solidFill>
              </a:defRPr>
            </a:pPr>
            <a:r>
              <a:t>Layer 3: UI Component Library</a:t>
            </a:r>
          </a:p>
          <a:p>
            <a:pPr>
              <a:spcAft>
                <a:spcPts val="400"/>
              </a:spcAft>
              <a:defRPr sz="950" b="1">
                <a:solidFill>
                  <a:srgbClr val="2563EB"/>
                </a:solidFill>
              </a:defRPr>
            </a:pPr>
            <a:r>
              <a:t>src/components/ui/* &amp; career/*</a:t>
            </a:r>
          </a:p>
          <a:p>
            <a:pPr>
              <a:defRPr sz="1000">
                <a:solidFill>
                  <a:srgbClr val="94A3B8"/>
                </a:solidFill>
              </a:defRPr>
            </a:pPr>
            <a:r>
              <a:t>Atomic design components: Button, OptionCard, MatchScore, ProgressBar, Modal, CareerCard, and FormStep wrappers.</a:t>
            </a:r>
          </a:p>
        </p:txBody>
      </p:sp>
      <p:sp>
        <p:nvSpPr>
          <p:cNvPr id="11" name="Rounded Rectangle 10"/>
          <p:cNvSpPr/>
          <p:nvPr/>
        </p:nvSpPr>
        <p:spPr>
          <a:xfrm>
            <a:off x="731520"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279392"/>
            <a:ext cx="3127248" cy="1828800"/>
          </a:xfrm>
          <a:prstGeom prst="rect">
            <a:avLst/>
          </a:prstGeom>
          <a:noFill/>
        </p:spPr>
        <p:txBody>
          <a:bodyPr wrap="square">
            <a:spAutoFit/>
          </a:bodyPr>
          <a:lstStyle/>
          <a:p>
            <a:pPr>
              <a:defRPr sz="1200" b="1">
                <a:solidFill>
                  <a:srgbClr val="06B6D4"/>
                </a:solidFill>
              </a:defRPr>
            </a:pPr>
            <a:r>
              <a:t>Layer 4: Custom Hooks</a:t>
            </a:r>
          </a:p>
          <a:p>
            <a:pPr>
              <a:spcAft>
                <a:spcPts val="400"/>
              </a:spcAft>
              <a:defRPr sz="950" b="1">
                <a:solidFill>
                  <a:srgbClr val="2563EB"/>
                </a:solidFill>
              </a:defRPr>
            </a:pPr>
            <a:r>
              <a:t>src/hooks/*</a:t>
            </a:r>
          </a:p>
          <a:p>
            <a:pPr>
              <a:defRPr sz="1000">
                <a:solidFill>
                  <a:srgbClr val="94A3B8"/>
                </a:solidFill>
              </a:defRPr>
            </a:pPr>
            <a:r>
              <a:t>Abstracts stateful logic: useCareerAssessment, useLocalStorage, useSavedCareers, and useDocumentTitle.</a:t>
            </a:r>
          </a:p>
        </p:txBody>
      </p:sp>
      <p:sp>
        <p:nvSpPr>
          <p:cNvPr id="13" name="Rounded Rectangle 12"/>
          <p:cNvSpPr/>
          <p:nvPr/>
        </p:nvSpPr>
        <p:spPr>
          <a:xfrm>
            <a:off x="4370832"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4279392"/>
            <a:ext cx="3127248" cy="1828800"/>
          </a:xfrm>
          <a:prstGeom prst="rect">
            <a:avLst/>
          </a:prstGeom>
          <a:noFill/>
        </p:spPr>
        <p:txBody>
          <a:bodyPr wrap="square">
            <a:spAutoFit/>
          </a:bodyPr>
          <a:lstStyle/>
          <a:p>
            <a:pPr>
              <a:defRPr sz="1200" b="1">
                <a:solidFill>
                  <a:srgbClr val="06B6D4"/>
                </a:solidFill>
              </a:defRPr>
            </a:pPr>
            <a:r>
              <a:t>Layer 5: Domain Engine &amp; Data</a:t>
            </a:r>
          </a:p>
          <a:p>
            <a:pPr>
              <a:spcAft>
                <a:spcPts val="400"/>
              </a:spcAft>
              <a:defRPr sz="950" b="1">
                <a:solidFill>
                  <a:srgbClr val="2563EB"/>
                </a:solidFill>
              </a:defRPr>
            </a:pPr>
            <a:r>
              <a:t>src/utils/ &amp; src/data/</a:t>
            </a:r>
          </a:p>
          <a:p>
            <a:pPr>
              <a:defRPr sz="1000">
                <a:solidFill>
                  <a:srgbClr val="94A3B8"/>
                </a:solidFill>
              </a:defRPr>
            </a:pPr>
            <a:r>
              <a:t>Deterministic recommendation logic (careerMatcher.js), career taxonomy catalog (careers.js), and question matrices.</a:t>
            </a:r>
          </a:p>
        </p:txBody>
      </p:sp>
      <p:sp>
        <p:nvSpPr>
          <p:cNvPr id="15" name="Rounded Rectangle 14"/>
          <p:cNvSpPr/>
          <p:nvPr/>
        </p:nvSpPr>
        <p:spPr>
          <a:xfrm>
            <a:off x="8010144" y="4114800"/>
            <a:ext cx="3456432"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6" y="4279392"/>
            <a:ext cx="3127248" cy="1828800"/>
          </a:xfrm>
          <a:prstGeom prst="rect">
            <a:avLst/>
          </a:prstGeom>
          <a:noFill/>
        </p:spPr>
        <p:txBody>
          <a:bodyPr wrap="square">
            <a:spAutoFit/>
          </a:bodyPr>
          <a:lstStyle/>
          <a:p>
            <a:pPr>
              <a:defRPr sz="1200" b="1">
                <a:solidFill>
                  <a:srgbClr val="06B6D4"/>
                </a:solidFill>
              </a:defRPr>
            </a:pPr>
            <a:r>
              <a:t>Layer 6: Persistence &amp; Storage</a:t>
            </a:r>
          </a:p>
          <a:p>
            <a:pPr>
              <a:spcAft>
                <a:spcPts val="400"/>
              </a:spcAft>
              <a:defRPr sz="950" b="1">
                <a:solidFill>
                  <a:srgbClr val="2563EB"/>
                </a:solidFill>
              </a:defRPr>
            </a:pPr>
            <a:r>
              <a:t>localStorage / Context</a:t>
            </a:r>
          </a:p>
          <a:p>
            <a:pPr>
              <a:defRPr sz="1000">
                <a:solidFill>
                  <a:srgbClr val="94A3B8"/>
                </a:solidFill>
              </a:defRPr>
            </a:pPr>
            <a:r>
              <a:t>Client-side storage abstraction managing authentication tokens, profile archives, and saved career arrays.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962656"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TECHNICAL IMPLEMENTATION</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React Concepts &amp; Paradigms Applied</a:t>
            </a:r>
          </a:p>
          <a:p>
            <a:pPr>
              <a:defRPr sz="1150">
                <a:solidFill>
                  <a:srgbClr val="94A3B8"/>
                </a:solidFill>
                <a:latin typeface="Segoe UI"/>
              </a:defRPr>
            </a:pPr>
            <a:r>
              <a:t>Demonstrating foundational, intermediate, and advanced React development methodologies.</a:t>
            </a:r>
          </a:p>
        </p:txBody>
      </p:sp>
      <p:sp>
        <p:nvSpPr>
          <p:cNvPr id="5" name="Rounded Rectangle 4"/>
          <p:cNvSpPr/>
          <p:nvPr/>
        </p:nvSpPr>
        <p:spPr>
          <a:xfrm>
            <a:off x="731520" y="178308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47672"/>
            <a:ext cx="4892040" cy="1828800"/>
          </a:xfrm>
          <a:prstGeom prst="rect">
            <a:avLst/>
          </a:prstGeom>
          <a:noFill/>
        </p:spPr>
        <p:txBody>
          <a:bodyPr wrap="square">
            <a:spAutoFit/>
          </a:bodyPr>
          <a:lstStyle/>
          <a:p>
            <a:pPr>
              <a:spcAft>
                <a:spcPts val="600"/>
              </a:spcAft>
              <a:defRPr sz="1300" b="1">
                <a:solidFill>
                  <a:srgbClr val="06B6D4"/>
                </a:solidFill>
              </a:defRPr>
            </a:pPr>
            <a:r>
              <a:t>React Fundamentals</a:t>
            </a:r>
          </a:p>
          <a:p>
            <a:pPr>
              <a:defRPr sz="1050">
                <a:solidFill>
                  <a:srgbClr val="94A3B8"/>
                </a:solidFill>
              </a:defRPr>
            </a:pPr>
            <a:r>
              <a:t>• Functional Components with JSX declarative syntax</a:t>
            </a:r>
            <a:br/>
            <a:r>
              <a:t>• Unidirectional Props flow and prop validation</a:t>
            </a:r>
            <a:br/>
            <a:r>
              <a:t>• Component composition via children props</a:t>
            </a:r>
            <a:br/>
            <a:r>
              <a:t>• Conditional rendering (&amp;&amp;, ternary operator)</a:t>
            </a:r>
            <a:br/>
            <a:r>
              <a:t>• Dynamic className modifiers for active UI states</a:t>
            </a:r>
          </a:p>
        </p:txBody>
      </p:sp>
      <p:sp>
        <p:nvSpPr>
          <p:cNvPr id="7" name="Rounded Rectangle 6"/>
          <p:cNvSpPr/>
          <p:nvPr/>
        </p:nvSpPr>
        <p:spPr>
          <a:xfrm>
            <a:off x="6199632" y="178308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947672"/>
            <a:ext cx="4892040" cy="1828800"/>
          </a:xfrm>
          <a:prstGeom prst="rect">
            <a:avLst/>
          </a:prstGeom>
          <a:noFill/>
        </p:spPr>
        <p:txBody>
          <a:bodyPr wrap="square">
            <a:spAutoFit/>
          </a:bodyPr>
          <a:lstStyle/>
          <a:p>
            <a:pPr>
              <a:spcAft>
                <a:spcPts val="600"/>
              </a:spcAft>
              <a:defRPr sz="1300" b="1">
                <a:solidFill>
                  <a:srgbClr val="2563EB"/>
                </a:solidFill>
              </a:defRPr>
            </a:pPr>
            <a:r>
              <a:t>State Management &amp; Forms</a:t>
            </a:r>
          </a:p>
          <a:p>
            <a:pPr>
              <a:defRPr sz="1050">
                <a:solidFill>
                  <a:srgbClr val="94A3B8"/>
                </a:solidFill>
              </a:defRPr>
            </a:pPr>
            <a:r>
              <a:t>• Controlled input bindings across text &amp; range elements</a:t>
            </a:r>
            <a:br/>
            <a:r>
              <a:t>• Lifting state up from step components to assessment host</a:t>
            </a:r>
            <a:br/>
            <a:r>
              <a:t>• Immutable state updates using object &amp; array spread</a:t>
            </a:r>
            <a:br/>
            <a:r>
              <a:t>• Cross-step multi-select array toggles</a:t>
            </a:r>
            <a:br/>
            <a:r>
              <a:t>• Form validation gatekeeping prior to navigation</a:t>
            </a:r>
          </a:p>
        </p:txBody>
      </p:sp>
      <p:sp>
        <p:nvSpPr>
          <p:cNvPr id="9" name="Rounded Rectangle 8"/>
          <p:cNvSpPr/>
          <p:nvPr/>
        </p:nvSpPr>
        <p:spPr>
          <a:xfrm>
            <a:off x="731520" y="411480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79392"/>
            <a:ext cx="4892040" cy="1828800"/>
          </a:xfrm>
          <a:prstGeom prst="rect">
            <a:avLst/>
          </a:prstGeom>
          <a:noFill/>
        </p:spPr>
        <p:txBody>
          <a:bodyPr wrap="square">
            <a:spAutoFit/>
          </a:bodyPr>
          <a:lstStyle/>
          <a:p>
            <a:pPr>
              <a:spcAft>
                <a:spcPts val="600"/>
              </a:spcAft>
              <a:defRPr sz="1300" b="1">
                <a:solidFill>
                  <a:srgbClr val="10B981"/>
                </a:solidFill>
              </a:defRPr>
            </a:pPr>
            <a:r>
              <a:t>Performance &amp; Optimization</a:t>
            </a:r>
          </a:p>
          <a:p>
            <a:pPr>
              <a:defRPr sz="1050">
                <a:solidFill>
                  <a:srgbClr val="94A3B8"/>
                </a:solidFill>
              </a:defRPr>
            </a:pPr>
            <a:r>
              <a:t>• useMemo caching top career calculation against stored profile</a:t>
            </a:r>
            <a:br/>
            <a:r>
              <a:t>• useCallback ensuring stable handler references for forms</a:t>
            </a:r>
            <a:br/>
            <a:r>
              <a:t>• Lazy state initialization for zero-overhead storage reads</a:t>
            </a:r>
            <a:br/>
            <a:r>
              <a:t>• Code modularization preventing unnecessary component tree re-renders</a:t>
            </a:r>
          </a:p>
        </p:txBody>
      </p:sp>
      <p:sp>
        <p:nvSpPr>
          <p:cNvPr id="11" name="Rounded Rectangle 10"/>
          <p:cNvSpPr/>
          <p:nvPr/>
        </p:nvSpPr>
        <p:spPr>
          <a:xfrm>
            <a:off x="6199632" y="411480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4279392"/>
            <a:ext cx="4892040" cy="1828800"/>
          </a:xfrm>
          <a:prstGeom prst="rect">
            <a:avLst/>
          </a:prstGeom>
          <a:noFill/>
        </p:spPr>
        <p:txBody>
          <a:bodyPr wrap="square">
            <a:spAutoFit/>
          </a:bodyPr>
          <a:lstStyle/>
          <a:p>
            <a:pPr>
              <a:spcAft>
                <a:spcPts val="600"/>
              </a:spcAft>
              <a:defRPr sz="1300" b="1">
                <a:solidFill>
                  <a:srgbClr val="7C3AED"/>
                </a:solidFill>
              </a:defRPr>
            </a:pPr>
            <a:r>
              <a:t>Custom Hooks &amp; Abstractions</a:t>
            </a:r>
          </a:p>
          <a:p>
            <a:pPr>
              <a:defRPr sz="1050">
                <a:solidFill>
                  <a:srgbClr val="94A3B8"/>
                </a:solidFill>
              </a:defRPr>
            </a:pPr>
            <a:r>
              <a:t>• useCareerAssessment: Centralizes wizard state &amp; validation</a:t>
            </a:r>
            <a:br/>
            <a:r>
              <a:t>• useLocalStorage: Synchronizes state with browser storage</a:t>
            </a:r>
            <a:br/>
            <a:r>
              <a:t>• useSavedCareers: Manages bookmark add/remove operations</a:t>
            </a:r>
            <a:br/>
            <a:r>
              <a:t>• useDocumentTitle: Dynamically updates HTML page titles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359152"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HOOKS ARCHITECTURE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React Hooks Implementation Matrix</a:t>
            </a:r>
          </a:p>
          <a:p>
            <a:pPr>
              <a:defRPr sz="1150">
                <a:solidFill>
                  <a:srgbClr val="94A3B8"/>
                </a:solidFill>
                <a:latin typeface="Segoe UI"/>
              </a:defRPr>
            </a:pPr>
            <a:r>
              <a:t>Systematic application of standard and custom hooks for reactive state, effects, and memoization.</a:t>
            </a:r>
          </a:p>
        </p:txBody>
      </p:sp>
      <p:sp>
        <p:nvSpPr>
          <p:cNvPr id="5" name="Rounded Rectangle 4"/>
          <p:cNvSpPr/>
          <p:nvPr/>
        </p:nvSpPr>
        <p:spPr>
          <a:xfrm>
            <a:off x="731520" y="1783080"/>
            <a:ext cx="10728655" cy="676656"/>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56232"/>
            <a:ext cx="10454335" cy="548640"/>
          </a:xfrm>
          <a:prstGeom prst="rect">
            <a:avLst/>
          </a:prstGeom>
          <a:noFill/>
        </p:spPr>
        <p:txBody>
          <a:bodyPr wrap="square">
            <a:spAutoFit/>
          </a:bodyPr>
          <a:lstStyle/>
          <a:p>
            <a:r>
              <a:rPr b="1" sz="1200">
                <a:solidFill>
                  <a:srgbClr val="06B6D4"/>
                </a:solidFill>
              </a:rPr>
              <a:t>useState  </a:t>
            </a:r>
            <a:r>
              <a:rPr b="1" sz="1050">
                <a:solidFill>
                  <a:srgbClr val="F8FAFC"/>
                </a:solidFill>
              </a:rPr>
              <a:t>|  Local Reactive State: </a:t>
            </a:r>
            <a:r>
              <a:rPr sz="1000">
                <a:solidFill>
                  <a:srgbClr val="94A3B8"/>
                </a:solidFill>
              </a:rPr>
              <a:t>Manages form input values, current wizard step index, error messages, modal states, and API fetch status.  </a:t>
            </a:r>
            <a:r>
              <a:rPr sz="900">
                <a:solidFill>
                  <a:srgbClr val="7C3AED"/>
                </a:solidFill>
              </a:rPr>
              <a:t>[Login.jsx, AcademicBgStep.jsx, CareerInsight.jsx]</a:t>
            </a:r>
          </a:p>
        </p:txBody>
      </p:sp>
      <p:sp>
        <p:nvSpPr>
          <p:cNvPr id="7" name="Rounded Rectangle 6"/>
          <p:cNvSpPr/>
          <p:nvPr/>
        </p:nvSpPr>
        <p:spPr>
          <a:xfrm>
            <a:off x="731520" y="2532888"/>
            <a:ext cx="10728655" cy="676656"/>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06040"/>
            <a:ext cx="10454335" cy="548640"/>
          </a:xfrm>
          <a:prstGeom prst="rect">
            <a:avLst/>
          </a:prstGeom>
          <a:noFill/>
        </p:spPr>
        <p:txBody>
          <a:bodyPr wrap="square">
            <a:spAutoFit/>
          </a:bodyPr>
          <a:lstStyle/>
          <a:p>
            <a:r>
              <a:rPr b="1" sz="1200">
                <a:solidFill>
                  <a:srgbClr val="06B6D4"/>
                </a:solidFill>
              </a:rPr>
              <a:t>useEffect  </a:t>
            </a:r>
            <a:r>
              <a:rPr b="1" sz="1050">
                <a:solidFill>
                  <a:srgbClr val="F8FAFC"/>
                </a:solidFill>
              </a:rPr>
              <a:t>|  Side Effects &amp; Lifecycle: </a:t>
            </a:r>
            <a:r>
              <a:rPr sz="1000">
                <a:solidFill>
                  <a:srgbClr val="94A3B8"/>
                </a:solidFill>
              </a:rPr>
              <a:t>Smoothly auto-scrolls to question top on step change, syncs document titles, and executes Fetch API call on mount.  </a:t>
            </a:r>
            <a:r>
              <a:rPr sz="900">
                <a:solidFill>
                  <a:srgbClr val="7C3AED"/>
                </a:solidFill>
              </a:rPr>
              <a:t>[CareerDiscovery.jsx, CareerInsight.jsx, useDocumentTitle.js]</a:t>
            </a:r>
          </a:p>
        </p:txBody>
      </p:sp>
      <p:sp>
        <p:nvSpPr>
          <p:cNvPr id="9" name="Rounded Rectangle 8"/>
          <p:cNvSpPr/>
          <p:nvPr/>
        </p:nvSpPr>
        <p:spPr>
          <a:xfrm>
            <a:off x="731520" y="3282696"/>
            <a:ext cx="10728655" cy="676656"/>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355848"/>
            <a:ext cx="10454335" cy="548640"/>
          </a:xfrm>
          <a:prstGeom prst="rect">
            <a:avLst/>
          </a:prstGeom>
          <a:noFill/>
        </p:spPr>
        <p:txBody>
          <a:bodyPr wrap="square">
            <a:spAutoFit/>
          </a:bodyPr>
          <a:lstStyle/>
          <a:p>
            <a:r>
              <a:rPr b="1" sz="1200">
                <a:solidFill>
                  <a:srgbClr val="06B6D4"/>
                </a:solidFill>
              </a:rPr>
              <a:t>useRef  </a:t>
            </a:r>
            <a:r>
              <a:rPr b="1" sz="1050">
                <a:solidFill>
                  <a:srgbClr val="F8FAFC"/>
                </a:solidFill>
              </a:rPr>
              <a:t>|  DOM &amp; Element References: </a:t>
            </a:r>
            <a:r>
              <a:rPr sz="1000">
                <a:solidFill>
                  <a:srgbClr val="94A3B8"/>
                </a:solidFill>
              </a:rPr>
              <a:t>Auto-focuses first input on step mount and anchors smooth-scrolling container coordinates.  </a:t>
            </a:r>
            <a:r>
              <a:rPr sz="900">
                <a:solidFill>
                  <a:srgbClr val="7C3AED"/>
                </a:solidFill>
              </a:rPr>
              <a:t>[AboutYouStep.jsx, CareerDiscovery.jsx]</a:t>
            </a:r>
          </a:p>
        </p:txBody>
      </p:sp>
      <p:sp>
        <p:nvSpPr>
          <p:cNvPr id="11" name="Rounded Rectangle 10"/>
          <p:cNvSpPr/>
          <p:nvPr/>
        </p:nvSpPr>
        <p:spPr>
          <a:xfrm>
            <a:off x="731520" y="4032504"/>
            <a:ext cx="10728655" cy="676656"/>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05656"/>
            <a:ext cx="10454335" cy="548640"/>
          </a:xfrm>
          <a:prstGeom prst="rect">
            <a:avLst/>
          </a:prstGeom>
          <a:noFill/>
        </p:spPr>
        <p:txBody>
          <a:bodyPr wrap="square">
            <a:spAutoFit/>
          </a:bodyPr>
          <a:lstStyle/>
          <a:p>
            <a:r>
              <a:rPr b="1" sz="1200">
                <a:solidFill>
                  <a:srgbClr val="06B6D4"/>
                </a:solidFill>
              </a:rPr>
              <a:t>useMemo  </a:t>
            </a:r>
            <a:r>
              <a:rPr b="1" sz="1050">
                <a:solidFill>
                  <a:srgbClr val="F8FAFC"/>
                </a:solidFill>
              </a:rPr>
              <a:t>|  Memoized Calculations: </a:t>
            </a:r>
            <a:r>
              <a:rPr sz="1000">
                <a:solidFill>
                  <a:srgbClr val="94A3B8"/>
                </a:solidFill>
              </a:rPr>
              <a:t>Caches top recommendation computation; only re-evaluates when stored profile dependencies update.  </a:t>
            </a:r>
            <a:r>
              <a:rPr sz="900">
                <a:solidFill>
                  <a:srgbClr val="7C3AED"/>
                </a:solidFill>
              </a:rPr>
              <a:t>[DashboardHome.jsx]</a:t>
            </a:r>
          </a:p>
        </p:txBody>
      </p:sp>
      <p:sp>
        <p:nvSpPr>
          <p:cNvPr id="13" name="Rounded Rectangle 12"/>
          <p:cNvSpPr/>
          <p:nvPr/>
        </p:nvSpPr>
        <p:spPr>
          <a:xfrm>
            <a:off x="731520" y="4782312"/>
            <a:ext cx="10728655" cy="676656"/>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855464"/>
            <a:ext cx="10454335" cy="548640"/>
          </a:xfrm>
          <a:prstGeom prst="rect">
            <a:avLst/>
          </a:prstGeom>
          <a:noFill/>
        </p:spPr>
        <p:txBody>
          <a:bodyPr wrap="square">
            <a:spAutoFit/>
          </a:bodyPr>
          <a:lstStyle/>
          <a:p>
            <a:r>
              <a:rPr b="1" sz="1200">
                <a:solidFill>
                  <a:srgbClr val="06B6D4"/>
                </a:solidFill>
              </a:rPr>
              <a:t>useCallback  </a:t>
            </a:r>
            <a:r>
              <a:rPr b="1" sz="1050">
                <a:solidFill>
                  <a:srgbClr val="F8FAFC"/>
                </a:solidFill>
              </a:rPr>
              <a:t>|  Memoized Handlers: </a:t>
            </a:r>
            <a:r>
              <a:rPr sz="1000">
                <a:solidFill>
                  <a:srgbClr val="94A3B8"/>
                </a:solidFill>
              </a:rPr>
              <a:t>Provides stable function identity for profile submission and auth handlers, avoiding redundant child renders.  </a:t>
            </a:r>
            <a:r>
              <a:rPr sz="900">
                <a:solidFill>
                  <a:srgbClr val="7C3AED"/>
                </a:solidFill>
              </a:rPr>
              <a:t>[CareerDiscovery.jsx, AuthContext.jsx]</a:t>
            </a:r>
          </a:p>
        </p:txBody>
      </p:sp>
      <p:sp>
        <p:nvSpPr>
          <p:cNvPr id="15" name="Rounded Rectangle 14"/>
          <p:cNvSpPr/>
          <p:nvPr/>
        </p:nvSpPr>
        <p:spPr>
          <a:xfrm>
            <a:off x="731520" y="5532120"/>
            <a:ext cx="10728655" cy="676656"/>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605272"/>
            <a:ext cx="10454335" cy="548640"/>
          </a:xfrm>
          <a:prstGeom prst="rect">
            <a:avLst/>
          </a:prstGeom>
          <a:noFill/>
        </p:spPr>
        <p:txBody>
          <a:bodyPr wrap="square">
            <a:spAutoFit/>
          </a:bodyPr>
          <a:lstStyle/>
          <a:p>
            <a:r>
              <a:rPr b="1" sz="1200">
                <a:solidFill>
                  <a:srgbClr val="06B6D4"/>
                </a:solidFill>
              </a:rPr>
              <a:t>Custom Hooks  </a:t>
            </a:r>
            <a:r>
              <a:rPr b="1" sz="1050">
                <a:solidFill>
                  <a:srgbClr val="F8FAFC"/>
                </a:solidFill>
              </a:rPr>
              <a:t>|  Encapsulated Domain Logic: </a:t>
            </a:r>
            <a:r>
              <a:rPr sz="1000">
                <a:solidFill>
                  <a:srgbClr val="94A3B8"/>
                </a:solidFill>
              </a:rPr>
              <a:t>useCareerAssessment (wizard engine), useLocalStorage (storage sync), useSavedCareers (bookmarking).  </a:t>
            </a:r>
            <a:r>
              <a:rPr sz="900">
                <a:solidFill>
                  <a:srgbClr val="7C3AED"/>
                </a:solidFill>
              </a:rPr>
              <a:t>[src/hooks/*.js]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063240"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NAVIGATION INFRASTRUCTURE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React Router v6 Navigation Architecture</a:t>
            </a:r>
          </a:p>
          <a:p>
            <a:pPr>
              <a:defRPr sz="1150">
                <a:solidFill>
                  <a:srgbClr val="94A3B8"/>
                </a:solidFill>
                <a:latin typeface="Segoe UI"/>
              </a:defRPr>
            </a:pPr>
            <a:r>
              <a:t>Declarative routing tree supporting public pages, dynamic URL parameters, and protected authentication guards.</a:t>
            </a:r>
          </a:p>
        </p:txBody>
      </p:sp>
      <p:sp>
        <p:nvSpPr>
          <p:cNvPr id="5" name="Rounded Rectangle 4"/>
          <p:cNvSpPr/>
          <p:nvPr/>
        </p:nvSpPr>
        <p:spPr>
          <a:xfrm>
            <a:off x="731520" y="1783080"/>
            <a:ext cx="2578608"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65960"/>
            <a:ext cx="2249424" cy="4114800"/>
          </a:xfrm>
          <a:prstGeom prst="rect">
            <a:avLst/>
          </a:prstGeom>
          <a:noFill/>
        </p:spPr>
        <p:txBody>
          <a:bodyPr wrap="square">
            <a:spAutoFit/>
          </a:bodyPr>
          <a:lstStyle/>
          <a:p>
            <a:pPr>
              <a:spcAft>
                <a:spcPts val="800"/>
              </a:spcAft>
              <a:defRPr sz="1200" b="1">
                <a:solidFill>
                  <a:srgbClr val="2563EB"/>
                </a:solidFill>
              </a:defRPr>
            </a:pPr>
            <a:r>
              <a:t>🌐 Public Pages (MainLayout)</a:t>
            </a:r>
          </a:p>
          <a:p>
            <a:pPr>
              <a:defRPr sz="1000">
                <a:solidFill>
                  <a:srgbClr val="94A3B8"/>
                </a:solidFill>
              </a:defRPr>
            </a:pPr>
            <a:r>
              <a:t>• path="/" → Home.jsx</a:t>
            </a:r>
            <a:br/>
            <a:r>
              <a:t>• path="about" → About.jsx</a:t>
            </a:r>
            <a:br/>
            <a:r>
              <a:t>• path="features" → Features.jsx</a:t>
            </a:r>
            <a:br/>
            <a:r>
              <a:t>• path="faq" → FAQ.jsx</a:t>
            </a:r>
            <a:br/>
            <a:r>
              <a:t>• path="login" → Login.jsx</a:t>
            </a:r>
            <a:br/>
            <a:br/>
            <a:r>
              <a:t>Wrapped in MainLayout with sticky Navbar.</a:t>
            </a:r>
          </a:p>
        </p:txBody>
      </p:sp>
      <p:sp>
        <p:nvSpPr>
          <p:cNvPr id="7" name="Rounded Rectangle 6"/>
          <p:cNvSpPr/>
          <p:nvPr/>
        </p:nvSpPr>
        <p:spPr>
          <a:xfrm>
            <a:off x="3456432" y="1783080"/>
            <a:ext cx="2578608"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1024" y="1965960"/>
            <a:ext cx="2249424" cy="4114800"/>
          </a:xfrm>
          <a:prstGeom prst="rect">
            <a:avLst/>
          </a:prstGeom>
          <a:noFill/>
        </p:spPr>
        <p:txBody>
          <a:bodyPr wrap="square">
            <a:spAutoFit/>
          </a:bodyPr>
          <a:lstStyle/>
          <a:p>
            <a:pPr>
              <a:spcAft>
                <a:spcPts val="800"/>
              </a:spcAft>
              <a:defRPr sz="1200" b="1">
                <a:solidFill>
                  <a:srgbClr val="06B6D4"/>
                </a:solidFill>
              </a:defRPr>
            </a:pPr>
            <a:r>
              <a:t>🧭 Assessment &amp; Results</a:t>
            </a:r>
          </a:p>
          <a:p>
            <a:pPr>
              <a:defRPr sz="1000">
                <a:solidFill>
                  <a:srgbClr val="94A3B8"/>
                </a:solidFill>
              </a:defRPr>
            </a:pPr>
            <a:r>
              <a:t>• path="career-discovery" → CareerDiscovery.jsx</a:t>
            </a:r>
            <a:br/>
            <a:r>
              <a:t>• path="career/results" → CareerResults.jsx</a:t>
            </a:r>
            <a:br/>
            <a:r>
              <a:t>• path="career/:careerId" → CareerDetails.jsx</a:t>
            </a:r>
            <a:br/>
            <a:br/>
            <a:r>
              <a:t>Dynamic URL route parameter via useParams.</a:t>
            </a:r>
          </a:p>
        </p:txBody>
      </p:sp>
      <p:sp>
        <p:nvSpPr>
          <p:cNvPr id="9" name="Rounded Rectangle 8"/>
          <p:cNvSpPr/>
          <p:nvPr/>
        </p:nvSpPr>
        <p:spPr>
          <a:xfrm>
            <a:off x="6181344" y="1783080"/>
            <a:ext cx="2578608"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5936" y="1965960"/>
            <a:ext cx="2249424" cy="4114800"/>
          </a:xfrm>
          <a:prstGeom prst="rect">
            <a:avLst/>
          </a:prstGeom>
          <a:noFill/>
        </p:spPr>
        <p:txBody>
          <a:bodyPr wrap="square">
            <a:spAutoFit/>
          </a:bodyPr>
          <a:lstStyle/>
          <a:p>
            <a:pPr>
              <a:spcAft>
                <a:spcPts val="800"/>
              </a:spcAft>
              <a:defRPr sz="1200" b="1">
                <a:solidFill>
                  <a:srgbClr val="10B981"/>
                </a:solidFill>
              </a:defRPr>
            </a:pPr>
            <a:r>
              <a:t>🛡️ Protected Dashboard</a:t>
            </a:r>
          </a:p>
          <a:p>
            <a:pPr>
              <a:defRPr sz="1000">
                <a:solidFill>
                  <a:srgbClr val="94A3B8"/>
                </a:solidFill>
              </a:defRPr>
            </a:pPr>
            <a:r>
              <a:t>• path="dashboard" → DashboardLayout.jsx</a:t>
            </a:r>
            <a:br/>
            <a:r>
              <a:t>  ├── index → DashboardHome.jsx</a:t>
            </a:r>
            <a:br/>
            <a:r>
              <a:t>  ├── "profile" → ProfilePage.jsx</a:t>
            </a:r>
            <a:br/>
            <a:r>
              <a:t>  └── "saved-careers" → SavedCareers.jsx</a:t>
            </a:r>
            <a:br/>
            <a:br/>
            <a:r>
              <a:t>Guarded by &lt;ProtectedRoute&gt; wrapper.</a:t>
            </a:r>
          </a:p>
        </p:txBody>
      </p:sp>
      <p:sp>
        <p:nvSpPr>
          <p:cNvPr id="11" name="Rounded Rectangle 10"/>
          <p:cNvSpPr/>
          <p:nvPr/>
        </p:nvSpPr>
        <p:spPr>
          <a:xfrm>
            <a:off x="8906256" y="1783080"/>
            <a:ext cx="2578608"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70848" y="1965960"/>
            <a:ext cx="2249424" cy="4114800"/>
          </a:xfrm>
          <a:prstGeom prst="rect">
            <a:avLst/>
          </a:prstGeom>
          <a:noFill/>
        </p:spPr>
        <p:txBody>
          <a:bodyPr wrap="square">
            <a:spAutoFit/>
          </a:bodyPr>
          <a:lstStyle/>
          <a:p>
            <a:pPr>
              <a:spcAft>
                <a:spcPts val="800"/>
              </a:spcAft>
              <a:defRPr sz="1200" b="1">
                <a:solidFill>
                  <a:srgbClr val="F59E0B"/>
                </a:solidFill>
              </a:defRPr>
            </a:pPr>
            <a:r>
              <a:t>🛑 404 Fallback &amp; Guards</a:t>
            </a:r>
          </a:p>
          <a:p>
            <a:pPr>
              <a:defRPr sz="1000">
                <a:solidFill>
                  <a:srgbClr val="94A3B8"/>
                </a:solidFill>
              </a:defRPr>
            </a:pPr>
            <a:r>
              <a:t>• path="*" → NotFound.jsx</a:t>
            </a:r>
            <a:br/>
            <a:br/>
            <a:r>
              <a:t>Captures all undefined paths.</a:t>
            </a:r>
            <a:br/>
            <a:r>
              <a:t>ProtectedRoute redirects unauthenticated visitors to /login with state={{ from: location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25856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DATA ARCHITECTURE</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Client-Side Data Persistence Architecture</a:t>
            </a:r>
          </a:p>
          <a:p>
            <a:pPr>
              <a:defRPr sz="1150">
                <a:solidFill>
                  <a:srgbClr val="94A3B8"/>
                </a:solidFill>
                <a:latin typeface="Segoe UI"/>
              </a:defRPr>
            </a:pPr>
            <a:r>
              <a:t>Synchronizing React state with browser localStorage through custom hook abstractions and JSON serialization.</a:t>
            </a:r>
          </a:p>
        </p:txBody>
      </p:sp>
      <p:sp>
        <p:nvSpPr>
          <p:cNvPr id="5" name="Rounded Rectangle 4"/>
          <p:cNvSpPr/>
          <p:nvPr/>
        </p:nvSpPr>
        <p:spPr>
          <a:xfrm>
            <a:off x="731520" y="1783080"/>
            <a:ext cx="5120640"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663440" cy="4114800"/>
          </a:xfrm>
          <a:prstGeom prst="rect">
            <a:avLst/>
          </a:prstGeom>
          <a:noFill/>
        </p:spPr>
        <p:txBody>
          <a:bodyPr wrap="square">
            <a:spAutoFit/>
          </a:bodyPr>
          <a:lstStyle/>
          <a:p>
            <a:pPr>
              <a:spcAft>
                <a:spcPts val="1000"/>
              </a:spcAft>
              <a:defRPr sz="1400" b="1">
                <a:solidFill>
                  <a:srgbClr val="F8FAFC"/>
                </a:solidFill>
              </a:defRPr>
            </a:pPr>
            <a:r>
              <a:t>🔑 LocalStorage Schema Keys</a:t>
            </a:r>
          </a:p>
          <a:p>
            <a:pPr>
              <a:defRPr sz="1100" b="1">
                <a:solidFill>
                  <a:srgbClr val="06B6D4"/>
                </a:solidFill>
              </a:defRPr>
            </a:pPr>
            <a:r>
              <a:t>• avenza_profile</a:t>
            </a:r>
          </a:p>
          <a:p>
            <a:pPr>
              <a:spcAft>
                <a:spcPts val="800"/>
              </a:spcAft>
              <a:defRPr sz="950">
                <a:solidFill>
                  <a:srgbClr val="94A3B8"/>
                </a:solidFill>
              </a:defRPr>
            </a:pPr>
            <a:r>
              <a:t>Stores complete assessment submission: name, class, stream, marks, interests array, and cognitive strengths array.</a:t>
            </a:r>
          </a:p>
          <a:p>
            <a:pPr>
              <a:defRPr sz="1100" b="1">
                <a:solidFill>
                  <a:srgbClr val="06B6D4"/>
                </a:solidFill>
              </a:defRPr>
            </a:pPr>
            <a:r>
              <a:t>• avenza_auth_user</a:t>
            </a:r>
          </a:p>
          <a:p>
            <a:pPr>
              <a:spcAft>
                <a:spcPts val="800"/>
              </a:spcAft>
              <a:defRPr sz="950">
                <a:solidFill>
                  <a:srgbClr val="94A3B8"/>
                </a:solidFill>
              </a:defRPr>
            </a:pPr>
            <a:r>
              <a:t>Manages active authentication session object: user name, email address, and login timestamp.</a:t>
            </a:r>
          </a:p>
          <a:p>
            <a:pPr>
              <a:defRPr sz="1100" b="1">
                <a:solidFill>
                  <a:srgbClr val="06B6D4"/>
                </a:solidFill>
              </a:defRPr>
            </a:pPr>
            <a:r>
              <a:t>• avenza_saved_careers</a:t>
            </a:r>
          </a:p>
          <a:p>
            <a:pPr>
              <a:spcAft>
                <a:spcPts val="800"/>
              </a:spcAft>
              <a:defRPr sz="950">
                <a:solidFill>
                  <a:srgbClr val="94A3B8"/>
                </a:solidFill>
              </a:defRPr>
            </a:pPr>
            <a:r>
              <a:t>Maintains an array of bookmarked career IDs with helper methods to add, inspect, and remove bookmarks.</a:t>
            </a:r>
          </a:p>
          <a:p>
            <a:pPr>
              <a:defRPr sz="1100" b="1">
                <a:solidFill>
                  <a:srgbClr val="06B6D4"/>
                </a:solidFill>
              </a:defRPr>
            </a:pPr>
            <a:r>
              <a:t>• avenza_users</a:t>
            </a:r>
          </a:p>
          <a:p>
            <a:pPr>
              <a:spcAft>
                <a:spcPts val="800"/>
              </a:spcAft>
              <a:defRPr sz="950">
                <a:solidFill>
                  <a:srgbClr val="94A3B8"/>
                </a:solidFill>
              </a:defRPr>
            </a:pPr>
            <a:r>
              <a:t>Registry of demo user credentials allowing registered users to sign in and preventing arbitrary random string bypass.</a:t>
            </a:r>
          </a:p>
        </p:txBody>
      </p:sp>
      <p:sp>
        <p:nvSpPr>
          <p:cNvPr id="7" name="Rounded Rectangle 6"/>
          <p:cNvSpPr/>
          <p:nvPr/>
        </p:nvSpPr>
        <p:spPr>
          <a:xfrm>
            <a:off x="6080760" y="1783080"/>
            <a:ext cx="5376672" cy="44805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965960"/>
            <a:ext cx="4919472" cy="4114800"/>
          </a:xfrm>
          <a:prstGeom prst="rect">
            <a:avLst/>
          </a:prstGeom>
          <a:noFill/>
        </p:spPr>
        <p:txBody>
          <a:bodyPr wrap="square">
            <a:spAutoFit/>
          </a:bodyPr>
          <a:lstStyle/>
          <a:p>
            <a:pPr>
              <a:spcAft>
                <a:spcPts val="1200"/>
              </a:spcAft>
              <a:defRPr sz="1400" b="1">
                <a:solidFill>
                  <a:srgbClr val="10B981"/>
                </a:solidFill>
              </a:defRPr>
            </a:pPr>
            <a:r>
              <a:t>🔄 State-to-Storage Synchronization</a:t>
            </a:r>
          </a:p>
          <a:p>
            <a:pPr>
              <a:defRPr sz="1100" b="1">
                <a:solidFill>
                  <a:srgbClr val="F8FAFC"/>
                </a:solidFill>
              </a:defRPr>
            </a:pPr>
            <a:r>
              <a:t>1. User Action Trigger</a:t>
            </a:r>
          </a:p>
          <a:p>
            <a:pPr>
              <a:spcAft>
                <a:spcPts val="600"/>
              </a:spcAft>
              <a:defRPr sz="950">
                <a:solidFill>
                  <a:srgbClr val="94A3B8"/>
                </a:solidFill>
              </a:defRPr>
            </a:pPr>
            <a:r>
              <a:t>User toggles an option card or updates an input in the form.</a:t>
            </a:r>
          </a:p>
          <a:p>
            <a:pPr>
              <a:defRPr sz="1100" b="1">
                <a:solidFill>
                  <a:srgbClr val="F8FAFC"/>
                </a:solidFill>
              </a:defRPr>
            </a:pPr>
            <a:r>
              <a:t>2. Component State Update</a:t>
            </a:r>
          </a:p>
          <a:p>
            <a:pPr>
              <a:spcAft>
                <a:spcPts val="600"/>
              </a:spcAft>
              <a:defRPr sz="950">
                <a:solidFill>
                  <a:srgbClr val="94A3B8"/>
                </a:solidFill>
              </a:defRPr>
            </a:pPr>
            <a:r>
              <a:t>React setState triggers a component re-render with updated data.</a:t>
            </a:r>
          </a:p>
          <a:p>
            <a:pPr>
              <a:defRPr sz="1100" b="1">
                <a:solidFill>
                  <a:srgbClr val="F8FAFC"/>
                </a:solidFill>
              </a:defRPr>
            </a:pPr>
            <a:r>
              <a:t>3. useLocalStorage Sync</a:t>
            </a:r>
          </a:p>
          <a:p>
            <a:pPr>
              <a:spcAft>
                <a:spcPts val="600"/>
              </a:spcAft>
              <a:defRPr sz="950">
                <a:solidFill>
                  <a:srgbClr val="94A3B8"/>
                </a:solidFill>
              </a:defRPr>
            </a:pPr>
            <a:r>
              <a:t>Custom hook's useEffect detects value delta and runs JSON.stringify().</a:t>
            </a:r>
          </a:p>
          <a:p>
            <a:pPr>
              <a:defRPr sz="1100" b="1">
                <a:solidFill>
                  <a:srgbClr val="F8FAFC"/>
                </a:solidFill>
              </a:defRPr>
            </a:pPr>
            <a:r>
              <a:t>4. Browser Storage Write</a:t>
            </a:r>
          </a:p>
          <a:p>
            <a:pPr>
              <a:spcAft>
                <a:spcPts val="600"/>
              </a:spcAft>
              <a:defRPr sz="950">
                <a:solidFill>
                  <a:srgbClr val="94A3B8"/>
                </a:solidFill>
              </a:defRPr>
            </a:pPr>
            <a:r>
              <a:t>Writes serialized JSON string directly to window.localStorage.</a:t>
            </a:r>
          </a:p>
          <a:p>
            <a:pPr>
              <a:defRPr sz="1100" b="1">
                <a:solidFill>
                  <a:srgbClr val="F8FAFC"/>
                </a:solidFill>
              </a:defRPr>
            </a:pPr>
            <a:r>
              <a:t>5. Lazy Hydration on Reload</a:t>
            </a:r>
          </a:p>
          <a:p>
            <a:pPr>
              <a:spcAft>
                <a:spcPts val="600"/>
              </a:spcAft>
              <a:defRPr sz="950">
                <a:solidFill>
                  <a:srgbClr val="94A3B8"/>
                </a:solidFill>
              </a:defRPr>
            </a:pPr>
            <a:r>
              <a:t>On page refresh, lazy useState initializer parses JSON to restore state.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157984"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ASYNC JAVASCRIPT</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External Data Integration: Fetch API &amp; Promises</a:t>
            </a:r>
          </a:p>
          <a:p>
            <a:pPr>
              <a:defRPr sz="1150">
                <a:solidFill>
                  <a:srgbClr val="94A3B8"/>
                </a:solidFill>
                <a:latin typeface="Segoe UI"/>
              </a:defRPr>
            </a:pPr>
            <a:r>
              <a:t>Demonstrating modern asynchronous HTTP operations, Promise resolution, and 3-state conditional rendering.</a:t>
            </a:r>
          </a:p>
        </p:txBody>
      </p:sp>
      <p:sp>
        <p:nvSpPr>
          <p:cNvPr id="5" name="Rounded Rectangle 4"/>
          <p:cNvSpPr/>
          <p:nvPr/>
        </p:nvSpPr>
        <p:spPr>
          <a:xfrm>
            <a:off x="731520" y="1783080"/>
            <a:ext cx="3456432"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20240"/>
            <a:ext cx="3127248" cy="2651760"/>
          </a:xfrm>
          <a:prstGeom prst="rect">
            <a:avLst/>
          </a:prstGeom>
          <a:noFill/>
        </p:spPr>
        <p:txBody>
          <a:bodyPr wrap="square">
            <a:spAutoFit/>
          </a:bodyPr>
          <a:lstStyle/>
          <a:p>
            <a:pPr>
              <a:spcAft>
                <a:spcPts val="400"/>
              </a:spcAft>
              <a:defRPr sz="1300" b="1">
                <a:solidFill>
                  <a:srgbClr val="F59E0B"/>
                </a:solidFill>
              </a:defRPr>
            </a:pPr>
            <a:r>
              <a:t>🔄 Loading State</a:t>
            </a:r>
          </a:p>
          <a:p>
            <a:pPr>
              <a:spcAft>
                <a:spcPts val="800"/>
              </a:spcAft>
              <a:defRPr sz="1000" b="1">
                <a:solidFill>
                  <a:srgbClr val="F8FAFC"/>
                </a:solidFill>
              </a:defRPr>
            </a:pPr>
            <a:r>
              <a:t>Tracks request in flight</a:t>
            </a:r>
          </a:p>
          <a:p>
            <a:pPr>
              <a:defRPr sz="1000">
                <a:solidFill>
                  <a:srgbClr val="94A3B8"/>
                </a:solidFill>
              </a:defRPr>
            </a:pPr>
            <a:r>
              <a:t>• useState(loading = true)</a:t>
            </a:r>
            <a:br/>
            <a:r>
              <a:t>• Animated CSS spinner rendered</a:t>
            </a:r>
            <a:br/>
            <a:r>
              <a:t>• UI controls disabled to prevent race conditions</a:t>
            </a:r>
            <a:br/>
            <a:r>
              <a:t>• Clear feedback: 'Loading career inspiration...'</a:t>
            </a:r>
          </a:p>
        </p:txBody>
      </p:sp>
      <p:sp>
        <p:nvSpPr>
          <p:cNvPr id="7" name="Rounded Rectangle 6"/>
          <p:cNvSpPr/>
          <p:nvPr/>
        </p:nvSpPr>
        <p:spPr>
          <a:xfrm>
            <a:off x="4370832" y="1783080"/>
            <a:ext cx="3456432"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920240"/>
            <a:ext cx="3127248" cy="2651760"/>
          </a:xfrm>
          <a:prstGeom prst="rect">
            <a:avLst/>
          </a:prstGeom>
          <a:noFill/>
        </p:spPr>
        <p:txBody>
          <a:bodyPr wrap="square">
            <a:spAutoFit/>
          </a:bodyPr>
          <a:lstStyle/>
          <a:p>
            <a:pPr>
              <a:spcAft>
                <a:spcPts val="400"/>
              </a:spcAft>
              <a:defRPr sz="1300" b="1">
                <a:solidFill>
                  <a:srgbClr val="EF4444"/>
                </a:solidFill>
              </a:defRPr>
            </a:pPr>
            <a:r>
              <a:t>⚠️ Error &amp; Retry State</a:t>
            </a:r>
          </a:p>
          <a:p>
            <a:pPr>
              <a:spcAft>
                <a:spcPts val="800"/>
              </a:spcAft>
              <a:defRPr sz="1000" b="1">
                <a:solidFill>
                  <a:srgbClr val="F8FAFC"/>
                </a:solidFill>
              </a:defRPr>
            </a:pPr>
            <a:r>
              <a:t>Graceful exception handling</a:t>
            </a:r>
          </a:p>
          <a:p>
            <a:pPr>
              <a:defRPr sz="1000">
                <a:solidFill>
                  <a:srgbClr val="94A3B8"/>
                </a:solidFill>
              </a:defRPr>
            </a:pPr>
            <a:r>
              <a:t>• try / catch (err) architecture</a:t>
            </a:r>
            <a:br/>
            <a:r>
              <a:t>• Catches network drops or non-200 HTTP codes</a:t>
            </a:r>
            <a:br/>
            <a:r>
              <a:t>• Displays user-friendly error notice</a:t>
            </a:r>
            <a:br/>
            <a:r>
              <a:t>• Interactive 'Retry' button triggers re-fetch</a:t>
            </a:r>
          </a:p>
        </p:txBody>
      </p:sp>
      <p:sp>
        <p:nvSpPr>
          <p:cNvPr id="9" name="Rounded Rectangle 8"/>
          <p:cNvSpPr/>
          <p:nvPr/>
        </p:nvSpPr>
        <p:spPr>
          <a:xfrm>
            <a:off x="8010144" y="1783080"/>
            <a:ext cx="3456432" cy="292608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20240"/>
            <a:ext cx="3127248" cy="2651760"/>
          </a:xfrm>
          <a:prstGeom prst="rect">
            <a:avLst/>
          </a:prstGeom>
          <a:noFill/>
        </p:spPr>
        <p:txBody>
          <a:bodyPr wrap="square">
            <a:spAutoFit/>
          </a:bodyPr>
          <a:lstStyle/>
          <a:p>
            <a:pPr>
              <a:spcAft>
                <a:spcPts val="400"/>
              </a:spcAft>
              <a:defRPr sz="1300" b="1">
                <a:solidFill>
                  <a:srgbClr val="10B981"/>
                </a:solidFill>
              </a:defRPr>
            </a:pPr>
            <a:r>
              <a:t>✅ Populated Data State</a:t>
            </a:r>
          </a:p>
          <a:p>
            <a:pPr>
              <a:spcAft>
                <a:spcPts val="800"/>
              </a:spcAft>
              <a:defRPr sz="1000" b="1">
                <a:solidFill>
                  <a:srgbClr val="F8FAFC"/>
                </a:solidFill>
              </a:defRPr>
            </a:pPr>
            <a:r>
              <a:t>Successful Promise resolution</a:t>
            </a:r>
          </a:p>
          <a:p>
            <a:pPr>
              <a:defRPr sz="1000">
                <a:solidFill>
                  <a:srgbClr val="94A3B8"/>
                </a:solidFill>
              </a:defRPr>
            </a:pPr>
            <a:r>
              <a:t>• await response.json() extracts quote &amp; author</a:t>
            </a:r>
            <a:br/>
            <a:r>
              <a:t>• Updates insight state</a:t>
            </a:r>
            <a:br/>
            <a:r>
              <a:t>• Formats blockquote with author citation</a:t>
            </a:r>
            <a:br/>
            <a:r>
              <a:t>• 'New Quote' button triggers fresh API call</a:t>
            </a:r>
          </a:p>
        </p:txBody>
      </p:sp>
      <p:sp>
        <p:nvSpPr>
          <p:cNvPr id="11" name="Rounded Rectangle 10"/>
          <p:cNvSpPr/>
          <p:nvPr/>
        </p:nvSpPr>
        <p:spPr>
          <a:xfrm>
            <a:off x="731520" y="4892040"/>
            <a:ext cx="10728655" cy="137160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83480"/>
            <a:ext cx="10362895" cy="1188720"/>
          </a:xfrm>
          <a:prstGeom prst="rect">
            <a:avLst/>
          </a:prstGeom>
          <a:noFill/>
        </p:spPr>
        <p:txBody>
          <a:bodyPr wrap="square">
            <a:spAutoFit/>
          </a:bodyPr>
          <a:lstStyle/>
          <a:p>
            <a:pPr>
              <a:spcAft>
                <a:spcPts val="400"/>
              </a:spcAft>
              <a:defRPr sz="1200" b="1">
                <a:solidFill>
                  <a:srgbClr val="06B6D4"/>
                </a:solidFill>
              </a:defRPr>
            </a:pPr>
            <a:r>
              <a:t>💻 JavaScript Concepts Demonstrated in CareerInsight.jsx</a:t>
            </a:r>
          </a:p>
          <a:p>
            <a:pPr>
              <a:defRPr sz="1000">
                <a:solidFill>
                  <a:srgbClr val="94A3B8"/>
                </a:solidFill>
              </a:defRPr>
            </a:pPr>
            <a:r>
              <a:t>1. Fetch API (Standard browser HTTP networking)  •  2. Promises &amp; async/await (Clean asynchronous syntax replacing callbacks)  •  3. try / catch / finally (Industrial error resilience)  •  4. useEffect on Mount (Automatic lifecycle execution)  •  5. Conditional UI Rendering (Tri-state loading / error / content rendering).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CURRICULUM ALIGNMENT</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Academic Syllabus &amp; Technical Competencies</a:t>
            </a:r>
          </a:p>
          <a:p>
            <a:pPr>
              <a:defRPr sz="1150">
                <a:solidFill>
                  <a:srgbClr val="94A3B8"/>
                </a:solidFill>
                <a:latin typeface="Segoe UI"/>
              </a:defRPr>
            </a:pPr>
            <a:r>
              <a:t>Comprehensive checklist demonstrating full compliance with frontend web engineering requirements.</a:t>
            </a:r>
          </a:p>
        </p:txBody>
      </p:sp>
      <p:sp>
        <p:nvSpPr>
          <p:cNvPr id="5" name="Rounded Rectangle 4"/>
          <p:cNvSpPr/>
          <p:nvPr/>
        </p:nvSpPr>
        <p:spPr>
          <a:xfrm>
            <a:off x="731520" y="1783080"/>
            <a:ext cx="3456432"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65960"/>
            <a:ext cx="3127248" cy="4114800"/>
          </a:xfrm>
          <a:prstGeom prst="rect">
            <a:avLst/>
          </a:prstGeom>
          <a:noFill/>
        </p:spPr>
        <p:txBody>
          <a:bodyPr wrap="square">
            <a:spAutoFit/>
          </a:bodyPr>
          <a:lstStyle/>
          <a:p>
            <a:pPr>
              <a:spcAft>
                <a:spcPts val="1000"/>
              </a:spcAft>
              <a:defRPr sz="1300" b="1">
                <a:solidFill>
                  <a:srgbClr val="06B6D4"/>
                </a:solidFill>
              </a:defRPr>
            </a:pPr>
            <a:r>
              <a:t>HTML5 &amp; Modern CSS3</a:t>
            </a:r>
          </a:p>
          <a:p>
            <a:pPr>
              <a:spcAft>
                <a:spcPts val="600"/>
              </a:spcAft>
              <a:defRPr sz="1000">
                <a:solidFill>
                  <a:srgbClr val="94A3B8"/>
                </a:solidFill>
              </a:defRPr>
            </a:pPr>
            <a:r>
              <a:t>✔ Semantic markup (header, nav, main, section, aside)</a:t>
            </a:r>
          </a:p>
          <a:p>
            <a:pPr>
              <a:spcAft>
                <a:spcPts val="600"/>
              </a:spcAft>
              <a:defRPr sz="1000">
                <a:solidFill>
                  <a:srgbClr val="94A3B8"/>
                </a:solidFill>
              </a:defRPr>
            </a:pPr>
            <a:r>
              <a:t>✔ Responsive Flexbox and multi-column CSS Grid</a:t>
            </a:r>
          </a:p>
          <a:p>
            <a:pPr>
              <a:spcAft>
                <a:spcPts val="600"/>
              </a:spcAft>
              <a:defRPr sz="1000">
                <a:solidFill>
                  <a:srgbClr val="94A3B8"/>
                </a:solidFill>
              </a:defRPr>
            </a:pPr>
            <a:r>
              <a:t>✔ CSS Custom Properties (Design system variables)</a:t>
            </a:r>
          </a:p>
          <a:p>
            <a:pPr>
              <a:spcAft>
                <a:spcPts val="600"/>
              </a:spcAft>
              <a:defRPr sz="1000">
                <a:solidFill>
                  <a:srgbClr val="94A3B8"/>
                </a:solidFill>
              </a:defRPr>
            </a:pPr>
            <a:r>
              <a:t>✔ Glassmorphism styling and dark gradient aesthetics</a:t>
            </a:r>
          </a:p>
          <a:p>
            <a:pPr>
              <a:spcAft>
                <a:spcPts val="600"/>
              </a:spcAft>
              <a:defRPr sz="1000">
                <a:solidFill>
                  <a:srgbClr val="94A3B8"/>
                </a:solidFill>
              </a:defRPr>
            </a:pPr>
            <a:r>
              <a:t>✔ Media queries supporting desktop, tablet &amp; mobile</a:t>
            </a:r>
          </a:p>
          <a:p>
            <a:pPr>
              <a:spcAft>
                <a:spcPts val="600"/>
              </a:spcAft>
              <a:defRPr sz="1000">
                <a:solidFill>
                  <a:srgbClr val="94A3B8"/>
                </a:solidFill>
              </a:defRPr>
            </a:pPr>
            <a:r>
              <a:t>✔ SVG graphics and animated circular progress rings</a:t>
            </a:r>
          </a:p>
        </p:txBody>
      </p:sp>
      <p:sp>
        <p:nvSpPr>
          <p:cNvPr id="7" name="Rounded Rectangle 6"/>
          <p:cNvSpPr/>
          <p:nvPr/>
        </p:nvSpPr>
        <p:spPr>
          <a:xfrm>
            <a:off x="4370832" y="1783080"/>
            <a:ext cx="3456432"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965960"/>
            <a:ext cx="3127248" cy="4114800"/>
          </a:xfrm>
          <a:prstGeom prst="rect">
            <a:avLst/>
          </a:prstGeom>
          <a:noFill/>
        </p:spPr>
        <p:txBody>
          <a:bodyPr wrap="square">
            <a:spAutoFit/>
          </a:bodyPr>
          <a:lstStyle/>
          <a:p>
            <a:pPr>
              <a:spcAft>
                <a:spcPts val="1000"/>
              </a:spcAft>
              <a:defRPr sz="1300" b="1">
                <a:solidFill>
                  <a:srgbClr val="2563EB"/>
                </a:solidFill>
              </a:defRPr>
            </a:pPr>
            <a:r>
              <a:t>Modern JavaScript (ES6+)</a:t>
            </a:r>
          </a:p>
          <a:p>
            <a:pPr>
              <a:spcAft>
                <a:spcPts val="600"/>
              </a:spcAft>
              <a:defRPr sz="1000">
                <a:solidFill>
                  <a:srgbClr val="94A3B8"/>
                </a:solidFill>
              </a:defRPr>
            </a:pPr>
            <a:r>
              <a:t>✔ Arrow functions and lexical scoping</a:t>
            </a:r>
          </a:p>
          <a:p>
            <a:pPr>
              <a:spcAft>
                <a:spcPts val="600"/>
              </a:spcAft>
              <a:defRPr sz="1000">
                <a:solidFill>
                  <a:srgbClr val="94A3B8"/>
                </a:solidFill>
              </a:defRPr>
            </a:pPr>
            <a:r>
              <a:t>✔ Destructuring assignment and Object/Array spread</a:t>
            </a:r>
          </a:p>
          <a:p>
            <a:pPr>
              <a:spcAft>
                <a:spcPts val="600"/>
              </a:spcAft>
              <a:defRPr sz="1000">
                <a:solidFill>
                  <a:srgbClr val="94A3B8"/>
                </a:solidFill>
              </a:defRPr>
            </a:pPr>
            <a:r>
              <a:t>✔ Array methods: map(), filter(), find(), reduce()</a:t>
            </a:r>
          </a:p>
          <a:p>
            <a:pPr>
              <a:spcAft>
                <a:spcPts val="600"/>
              </a:spcAft>
              <a:defRPr sz="1000">
                <a:solidFill>
                  <a:srgbClr val="94A3B8"/>
                </a:solidFill>
              </a:defRPr>
            </a:pPr>
            <a:r>
              <a:t>✔ JSON serialization &amp; window.localStorage API</a:t>
            </a:r>
          </a:p>
          <a:p>
            <a:pPr>
              <a:spcAft>
                <a:spcPts val="600"/>
              </a:spcAft>
              <a:defRPr sz="1000">
                <a:solidFill>
                  <a:srgbClr val="94A3B8"/>
                </a:solidFill>
              </a:defRPr>
            </a:pPr>
            <a:r>
              <a:t>✔ Promises, async/await, and Fetch API networking</a:t>
            </a:r>
          </a:p>
          <a:p>
            <a:pPr>
              <a:spcAft>
                <a:spcPts val="600"/>
              </a:spcAft>
              <a:defRPr sz="1000">
                <a:solidFill>
                  <a:srgbClr val="94A3B8"/>
                </a:solidFill>
              </a:defRPr>
            </a:pPr>
            <a:r>
              <a:t>✔ Error handling with try / catch / finally blocks</a:t>
            </a:r>
          </a:p>
        </p:txBody>
      </p:sp>
      <p:sp>
        <p:nvSpPr>
          <p:cNvPr id="9" name="Rounded Rectangle 8"/>
          <p:cNvSpPr/>
          <p:nvPr/>
        </p:nvSpPr>
        <p:spPr>
          <a:xfrm>
            <a:off x="8010144" y="1783080"/>
            <a:ext cx="3456432" cy="44805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65960"/>
            <a:ext cx="3127248" cy="4114800"/>
          </a:xfrm>
          <a:prstGeom prst="rect">
            <a:avLst/>
          </a:prstGeom>
          <a:noFill/>
        </p:spPr>
        <p:txBody>
          <a:bodyPr wrap="square">
            <a:spAutoFit/>
          </a:bodyPr>
          <a:lstStyle/>
          <a:p>
            <a:pPr>
              <a:spcAft>
                <a:spcPts val="1000"/>
              </a:spcAft>
              <a:defRPr sz="1300" b="1">
                <a:solidFill>
                  <a:srgbClr val="10B981"/>
                </a:solidFill>
              </a:defRPr>
            </a:pPr>
            <a:r>
              <a:t>React &amp; Application Architecture</a:t>
            </a:r>
          </a:p>
          <a:p>
            <a:pPr>
              <a:spcAft>
                <a:spcPts val="600"/>
              </a:spcAft>
              <a:defRPr sz="1000">
                <a:solidFill>
                  <a:srgbClr val="94A3B8"/>
                </a:solidFill>
              </a:defRPr>
            </a:pPr>
            <a:r>
              <a:t>✔ Functional components &amp; JSX declarative syntax</a:t>
            </a:r>
          </a:p>
          <a:p>
            <a:pPr>
              <a:spcAft>
                <a:spcPts val="600"/>
              </a:spcAft>
              <a:defRPr sz="1000">
                <a:solidFill>
                  <a:srgbClr val="94A3B8"/>
                </a:solidFill>
              </a:defRPr>
            </a:pPr>
            <a:r>
              <a:t>✔ Unidirectional props and component composition</a:t>
            </a:r>
          </a:p>
          <a:p>
            <a:pPr>
              <a:spcAft>
                <a:spcPts val="600"/>
              </a:spcAft>
              <a:defRPr sz="1000">
                <a:solidFill>
                  <a:srgbClr val="94A3B8"/>
                </a:solidFill>
              </a:defRPr>
            </a:pPr>
            <a:r>
              <a:t>✔ Controlled form inputs and state lifting</a:t>
            </a:r>
          </a:p>
          <a:p>
            <a:pPr>
              <a:spcAft>
                <a:spcPts val="600"/>
              </a:spcAft>
              <a:defRPr sz="1000">
                <a:solidFill>
                  <a:srgbClr val="94A3B8"/>
                </a:solidFill>
              </a:defRPr>
            </a:pPr>
            <a:r>
              <a:t>✔ 5 Standard React Hooks (useState, useEffect, useRef...)</a:t>
            </a:r>
          </a:p>
          <a:p>
            <a:pPr>
              <a:spcAft>
                <a:spcPts val="600"/>
              </a:spcAft>
              <a:defRPr sz="1000">
                <a:solidFill>
                  <a:srgbClr val="94A3B8"/>
                </a:solidFill>
              </a:defRPr>
            </a:pPr>
            <a:r>
              <a:t>✔ 4 Custom Hooks encapsulating domain logic</a:t>
            </a:r>
          </a:p>
          <a:p>
            <a:pPr>
              <a:spcAft>
                <a:spcPts val="600"/>
              </a:spcAft>
              <a:defRPr sz="1000">
                <a:solidFill>
                  <a:srgbClr val="94A3B8"/>
                </a:solidFill>
              </a:defRPr>
            </a:pPr>
            <a:r>
              <a:t>✔ React Router v6 dynamic and protected route guards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258568"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MILESTONE CLARITY</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Evaluation 1 Scope &amp; Intentional Boundaries</a:t>
            </a:r>
          </a:p>
          <a:p>
            <a:pPr>
              <a:defRPr sz="1150">
                <a:solidFill>
                  <a:srgbClr val="94A3B8"/>
                </a:solidFill>
                <a:latin typeface="Segoe UI"/>
              </a:defRPr>
            </a:pPr>
            <a:r>
              <a:t>Clear, transparent demarcation of our Phase 1 deliverables versus upcoming milestone goals.</a:t>
            </a:r>
          </a:p>
        </p:txBody>
      </p:sp>
      <p:sp>
        <p:nvSpPr>
          <p:cNvPr id="5" name="Rounded Rectangle 4"/>
          <p:cNvSpPr/>
          <p:nvPr/>
        </p:nvSpPr>
        <p:spPr>
          <a:xfrm>
            <a:off x="731520" y="1783080"/>
            <a:ext cx="5257800" cy="17373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892040" cy="1463040"/>
          </a:xfrm>
          <a:prstGeom prst="rect">
            <a:avLst/>
          </a:prstGeom>
          <a:noFill/>
        </p:spPr>
        <p:txBody>
          <a:bodyPr wrap="square">
            <a:spAutoFit/>
          </a:bodyPr>
          <a:lstStyle/>
          <a:p>
            <a:pPr>
              <a:defRPr sz="1300" b="1">
                <a:solidFill>
                  <a:srgbClr val="F8FAFC"/>
                </a:solidFill>
              </a:defRPr>
            </a:pPr>
            <a:r>
              <a:t>Frontend Single Page App</a:t>
            </a:r>
          </a:p>
          <a:p>
            <a:pPr>
              <a:spcAft>
                <a:spcPts val="400"/>
              </a:spcAft>
              <a:defRPr sz="900" b="1">
                <a:solidFill>
                  <a:srgbClr val="10B981"/>
                </a:solidFill>
              </a:defRPr>
            </a:pPr>
            <a:r>
              <a:t>CURRENT SCOPE (DELIVERED)</a:t>
            </a:r>
          </a:p>
          <a:p>
            <a:pPr>
              <a:defRPr sz="1000">
                <a:solidFill>
                  <a:srgbClr val="94A3B8"/>
                </a:solidFill>
              </a:defRPr>
            </a:pPr>
            <a:r>
              <a:t>A complete, interactive client-side application built on Vite and React. Operates with zero build warnings and rapid hot-module reloading.</a:t>
            </a:r>
          </a:p>
        </p:txBody>
      </p:sp>
      <p:sp>
        <p:nvSpPr>
          <p:cNvPr id="7" name="Rounded Rectangle 6"/>
          <p:cNvSpPr/>
          <p:nvPr/>
        </p:nvSpPr>
        <p:spPr>
          <a:xfrm>
            <a:off x="6199632" y="1783080"/>
            <a:ext cx="5257800" cy="17373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920240"/>
            <a:ext cx="4892040" cy="1463040"/>
          </a:xfrm>
          <a:prstGeom prst="rect">
            <a:avLst/>
          </a:prstGeom>
          <a:noFill/>
        </p:spPr>
        <p:txBody>
          <a:bodyPr wrap="square">
            <a:spAutoFit/>
          </a:bodyPr>
          <a:lstStyle/>
          <a:p>
            <a:pPr>
              <a:defRPr sz="1300" b="1">
                <a:solidFill>
                  <a:srgbClr val="F8FAFC"/>
                </a:solidFill>
              </a:defRPr>
            </a:pPr>
            <a:r>
              <a:t>Browser-Based Persistence</a:t>
            </a:r>
          </a:p>
          <a:p>
            <a:pPr>
              <a:spcAft>
                <a:spcPts val="400"/>
              </a:spcAft>
              <a:defRPr sz="900" b="1">
                <a:solidFill>
                  <a:srgbClr val="10B981"/>
                </a:solidFill>
              </a:defRPr>
            </a:pPr>
            <a:r>
              <a:t>CURRENT SCOPE (DELIVERED)</a:t>
            </a:r>
          </a:p>
          <a:p>
            <a:pPr>
              <a:defRPr sz="1000">
                <a:solidFill>
                  <a:srgbClr val="94A3B8"/>
                </a:solidFill>
              </a:defRPr>
            </a:pPr>
            <a:r>
              <a:t>Client-side localStorage is utilized for zero-infrastructure deployment. Ensures complete persistence across refreshes without database overhead.</a:t>
            </a:r>
          </a:p>
        </p:txBody>
      </p:sp>
      <p:sp>
        <p:nvSpPr>
          <p:cNvPr id="9" name="Rounded Rectangle 8"/>
          <p:cNvSpPr/>
          <p:nvPr/>
        </p:nvSpPr>
        <p:spPr>
          <a:xfrm>
            <a:off x="731520" y="3703320"/>
            <a:ext cx="5257800" cy="17373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40480"/>
            <a:ext cx="4892040" cy="1463040"/>
          </a:xfrm>
          <a:prstGeom prst="rect">
            <a:avLst/>
          </a:prstGeom>
          <a:noFill/>
        </p:spPr>
        <p:txBody>
          <a:bodyPr wrap="square">
            <a:spAutoFit/>
          </a:bodyPr>
          <a:lstStyle/>
          <a:p>
            <a:pPr>
              <a:defRPr sz="1300" b="1">
                <a:solidFill>
                  <a:srgbClr val="F8FAFC"/>
                </a:solidFill>
              </a:defRPr>
            </a:pPr>
            <a:r>
              <a:t>Demo Authentication System</a:t>
            </a:r>
          </a:p>
          <a:p>
            <a:pPr>
              <a:spcAft>
                <a:spcPts val="400"/>
              </a:spcAft>
              <a:defRPr sz="900" b="1">
                <a:solidFill>
                  <a:srgbClr val="10B981"/>
                </a:solidFill>
              </a:defRPr>
            </a:pPr>
            <a:r>
              <a:t>CURRENT SCOPE (DELIVERED)</a:t>
            </a:r>
          </a:p>
          <a:p>
            <a:pPr>
              <a:defRPr sz="1000">
                <a:solidFill>
                  <a:srgbClr val="94A3B8"/>
                </a:solidFill>
              </a:defRPr>
            </a:pPr>
            <a:r>
              <a:t>Client-side credential hashing and session validation. Clearly designated as demo authentication to illustrate protected routes.</a:t>
            </a:r>
          </a:p>
        </p:txBody>
      </p:sp>
      <p:sp>
        <p:nvSpPr>
          <p:cNvPr id="11" name="Rounded Rectangle 10"/>
          <p:cNvSpPr/>
          <p:nvPr/>
        </p:nvSpPr>
        <p:spPr>
          <a:xfrm>
            <a:off x="6199632" y="3703320"/>
            <a:ext cx="5257800" cy="173736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3840480"/>
            <a:ext cx="4892040" cy="1463040"/>
          </a:xfrm>
          <a:prstGeom prst="rect">
            <a:avLst/>
          </a:prstGeom>
          <a:noFill/>
        </p:spPr>
        <p:txBody>
          <a:bodyPr wrap="square">
            <a:spAutoFit/>
          </a:bodyPr>
          <a:lstStyle/>
          <a:p>
            <a:pPr>
              <a:defRPr sz="1300" b="1">
                <a:solidFill>
                  <a:srgbClr val="F8FAFC"/>
                </a:solidFill>
              </a:defRPr>
            </a:pPr>
            <a:r>
              <a:t>Rule-Based Matching Engine</a:t>
            </a:r>
          </a:p>
          <a:p>
            <a:pPr>
              <a:spcAft>
                <a:spcPts val="400"/>
              </a:spcAft>
              <a:defRPr sz="900" b="1">
                <a:solidFill>
                  <a:srgbClr val="10B981"/>
                </a:solidFill>
              </a:defRPr>
            </a:pPr>
            <a:r>
              <a:t>CURRENT SCOPE (DELIVERED)</a:t>
            </a:r>
          </a:p>
          <a:p>
            <a:pPr>
              <a:defRPr sz="1000">
                <a:solidFill>
                  <a:srgbClr val="94A3B8"/>
                </a:solidFill>
              </a:defRPr>
            </a:pPr>
            <a:r>
              <a:t>Deterministic, weighted algorithmic scoring matching student inputs against curated JSON career taxonomies.</a:t>
            </a:r>
          </a:p>
        </p:txBody>
      </p:sp>
      <p:sp>
        <p:nvSpPr>
          <p:cNvPr id="13" name="Rounded Rectangle 12"/>
          <p:cNvSpPr/>
          <p:nvPr/>
        </p:nvSpPr>
        <p:spPr>
          <a:xfrm>
            <a:off x="731520" y="5623560"/>
            <a:ext cx="10728655" cy="77724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15000"/>
            <a:ext cx="10362895" cy="594360"/>
          </a:xfrm>
          <a:prstGeom prst="rect">
            <a:avLst/>
          </a:prstGeom>
          <a:noFill/>
        </p:spPr>
        <p:txBody>
          <a:bodyPr wrap="square">
            <a:spAutoFit/>
          </a:bodyPr>
          <a:lstStyle/>
          <a:p>
            <a:pPr>
              <a:defRPr sz="1100" b="1">
                <a:solidFill>
                  <a:srgbClr val="06B6D4"/>
                </a:solidFill>
              </a:defRPr>
            </a:pPr>
            <a:r>
              <a:t>📌 Note to Evaluators: Evaluation 1 strictly focuses on front-end excellence, reactive state engineering, and component modularity. Backend servers and databases are planned for Phase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459736"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DEVELOPMENT ROADMAP</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Evaluation 2: Backend Architecture &amp; Data Scaling</a:t>
            </a:r>
          </a:p>
          <a:p>
            <a:pPr>
              <a:defRPr sz="1150">
                <a:solidFill>
                  <a:srgbClr val="94A3B8"/>
                </a:solidFill>
                <a:latin typeface="Segoe UI"/>
              </a:defRPr>
            </a:pPr>
            <a:r>
              <a:t>Transitioning from client-side prototype to an industrial full-stack web application.</a:t>
            </a:r>
          </a:p>
        </p:txBody>
      </p:sp>
      <p:sp>
        <p:nvSpPr>
          <p:cNvPr id="5" name="Rounded Rectangle 4"/>
          <p:cNvSpPr/>
          <p:nvPr/>
        </p:nvSpPr>
        <p:spPr>
          <a:xfrm>
            <a:off x="731520" y="178308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47672"/>
            <a:ext cx="4892040" cy="1828800"/>
          </a:xfrm>
          <a:prstGeom prst="rect">
            <a:avLst/>
          </a:prstGeom>
          <a:noFill/>
        </p:spPr>
        <p:txBody>
          <a:bodyPr wrap="square">
            <a:spAutoFit/>
          </a:bodyPr>
          <a:lstStyle/>
          <a:p>
            <a:pPr>
              <a:spcAft>
                <a:spcPts val="200"/>
              </a:spcAft>
              <a:defRPr sz="1000" b="1">
                <a:solidFill>
                  <a:srgbClr val="06B6D4"/>
                </a:solidFill>
              </a:defRPr>
            </a:pPr>
            <a:r>
              <a:t>MILESTONE 01</a:t>
            </a:r>
          </a:p>
          <a:p>
            <a:pPr>
              <a:spcAft>
                <a:spcPts val="600"/>
              </a:spcAft>
              <a:defRPr sz="1300" b="1">
                <a:solidFill>
                  <a:srgbClr val="F8FAFC"/>
                </a:solidFill>
              </a:defRPr>
            </a:pPr>
            <a:r>
              <a:t>Node.js &amp; Express REST Backend</a:t>
            </a:r>
          </a:p>
          <a:p>
            <a:pPr>
              <a:defRPr sz="1050">
                <a:solidFill>
                  <a:srgbClr val="94A3B8"/>
                </a:solidFill>
              </a:defRPr>
            </a:pPr>
            <a:r>
              <a:t>Developing centralized RESTful microservices to manage career catalogs, assessment records, and user data, replacing client-side mock operations.</a:t>
            </a:r>
          </a:p>
        </p:txBody>
      </p:sp>
      <p:sp>
        <p:nvSpPr>
          <p:cNvPr id="7" name="Rounded Rectangle 6"/>
          <p:cNvSpPr/>
          <p:nvPr/>
        </p:nvSpPr>
        <p:spPr>
          <a:xfrm>
            <a:off x="6199632" y="178308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82512" y="1947672"/>
            <a:ext cx="4892040" cy="1828800"/>
          </a:xfrm>
          <a:prstGeom prst="rect">
            <a:avLst/>
          </a:prstGeom>
          <a:noFill/>
        </p:spPr>
        <p:txBody>
          <a:bodyPr wrap="square">
            <a:spAutoFit/>
          </a:bodyPr>
          <a:lstStyle/>
          <a:p>
            <a:pPr>
              <a:spcAft>
                <a:spcPts val="200"/>
              </a:spcAft>
              <a:defRPr sz="1000" b="1">
                <a:solidFill>
                  <a:srgbClr val="06B6D4"/>
                </a:solidFill>
              </a:defRPr>
            </a:pPr>
            <a:r>
              <a:t>MILESTONE 02</a:t>
            </a:r>
          </a:p>
          <a:p>
            <a:pPr>
              <a:spcAft>
                <a:spcPts val="600"/>
              </a:spcAft>
              <a:defRPr sz="1300" b="1">
                <a:solidFill>
                  <a:srgbClr val="F8FAFC"/>
                </a:solidFill>
              </a:defRPr>
            </a:pPr>
            <a:r>
              <a:t>Database Persistence (MongoDB / PostgreSQL)</a:t>
            </a:r>
          </a:p>
          <a:p>
            <a:pPr>
              <a:defRPr sz="1050">
                <a:solidFill>
                  <a:srgbClr val="94A3B8"/>
                </a:solidFill>
              </a:defRPr>
            </a:pPr>
            <a:r>
              <a:t>Architecting schemas for user accounts, historical assessment attempts, custom career notes, and dynamic career information.</a:t>
            </a:r>
          </a:p>
        </p:txBody>
      </p:sp>
      <p:sp>
        <p:nvSpPr>
          <p:cNvPr id="9" name="Rounded Rectangle 8"/>
          <p:cNvSpPr/>
          <p:nvPr/>
        </p:nvSpPr>
        <p:spPr>
          <a:xfrm>
            <a:off x="731520" y="411480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79392"/>
            <a:ext cx="4892040" cy="1828800"/>
          </a:xfrm>
          <a:prstGeom prst="rect">
            <a:avLst/>
          </a:prstGeom>
          <a:noFill/>
        </p:spPr>
        <p:txBody>
          <a:bodyPr wrap="square">
            <a:spAutoFit/>
          </a:bodyPr>
          <a:lstStyle/>
          <a:p>
            <a:pPr>
              <a:spcAft>
                <a:spcPts val="200"/>
              </a:spcAft>
              <a:defRPr sz="1000" b="1">
                <a:solidFill>
                  <a:srgbClr val="06B6D4"/>
                </a:solidFill>
              </a:defRPr>
            </a:pPr>
            <a:r>
              <a:t>MILESTONE 03</a:t>
            </a:r>
          </a:p>
          <a:p>
            <a:pPr>
              <a:spcAft>
                <a:spcPts val="600"/>
              </a:spcAft>
              <a:defRPr sz="1300" b="1">
                <a:solidFill>
                  <a:srgbClr val="F8FAFC"/>
                </a:solidFill>
              </a:defRPr>
            </a:pPr>
            <a:r>
              <a:t>Production Authentication &amp; Security</a:t>
            </a:r>
          </a:p>
          <a:p>
            <a:pPr>
              <a:defRPr sz="1050">
                <a:solidFill>
                  <a:srgbClr val="94A3B8"/>
                </a:solidFill>
              </a:defRPr>
            </a:pPr>
            <a:r>
              <a:t>Implementing JSON Web Tokens (JWT), HTTP-only secure cookies, password hashing with bcrypt, and email verification.</a:t>
            </a:r>
          </a:p>
        </p:txBody>
      </p:sp>
      <p:sp>
        <p:nvSpPr>
          <p:cNvPr id="11" name="Rounded Rectangle 10"/>
          <p:cNvSpPr/>
          <p:nvPr/>
        </p:nvSpPr>
        <p:spPr>
          <a:xfrm>
            <a:off x="6199632" y="4114800"/>
            <a:ext cx="5257800" cy="21488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4279392"/>
            <a:ext cx="4892040" cy="1828800"/>
          </a:xfrm>
          <a:prstGeom prst="rect">
            <a:avLst/>
          </a:prstGeom>
          <a:noFill/>
        </p:spPr>
        <p:txBody>
          <a:bodyPr wrap="square">
            <a:spAutoFit/>
          </a:bodyPr>
          <a:lstStyle/>
          <a:p>
            <a:pPr>
              <a:spcAft>
                <a:spcPts val="200"/>
              </a:spcAft>
              <a:defRPr sz="1000" b="1">
                <a:solidFill>
                  <a:srgbClr val="06B6D4"/>
                </a:solidFill>
              </a:defRPr>
            </a:pPr>
            <a:r>
              <a:t>MILESTONE 04</a:t>
            </a:r>
          </a:p>
          <a:p>
            <a:pPr>
              <a:spcAft>
                <a:spcPts val="600"/>
              </a:spcAft>
              <a:defRPr sz="1300" b="1">
                <a:solidFill>
                  <a:srgbClr val="F8FAFC"/>
                </a:solidFill>
              </a:defRPr>
            </a:pPr>
            <a:r>
              <a:t>Expanded Career Taxonomy (200+ Roles)</a:t>
            </a:r>
          </a:p>
          <a:p>
            <a:pPr>
              <a:defRPr sz="1050">
                <a:solidFill>
                  <a:srgbClr val="94A3B8"/>
                </a:solidFill>
              </a:defRPr>
            </a:pPr>
            <a:r>
              <a:t>Scaling from our current 30-career test catalog to over 200+ verified occupational profiles with search, filter, and comparison tools.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157984"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LONG-TERM VISION</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Evaluation 3: Intelligent Full-Stack Ecosystem</a:t>
            </a:r>
          </a:p>
          <a:p>
            <a:pPr>
              <a:defRPr sz="1150">
                <a:solidFill>
                  <a:srgbClr val="94A3B8"/>
                </a:solidFill>
                <a:latin typeface="Segoe UI"/>
              </a:defRPr>
            </a:pPr>
            <a:r>
              <a:t>The ultimate destination: An AI-augmented career mentoring and skill-gap acceleration platform.</a:t>
            </a:r>
          </a:p>
        </p:txBody>
      </p:sp>
      <p:sp>
        <p:nvSpPr>
          <p:cNvPr id="5" name="Rounded Rectangle 4"/>
          <p:cNvSpPr/>
          <p:nvPr/>
        </p:nvSpPr>
        <p:spPr>
          <a:xfrm>
            <a:off x="731520" y="1783080"/>
            <a:ext cx="10728655" cy="8229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10362895" cy="640080"/>
          </a:xfrm>
          <a:prstGeom prst="rect">
            <a:avLst/>
          </a:prstGeom>
          <a:noFill/>
        </p:spPr>
        <p:txBody>
          <a:bodyPr wrap="square">
            <a:spAutoFit/>
          </a:bodyPr>
          <a:lstStyle/>
          <a:p>
            <a:pPr>
              <a:defRPr sz="1200" b="1">
                <a:solidFill>
                  <a:srgbClr val="06B6D4"/>
                </a:solidFill>
              </a:defRPr>
            </a:pPr>
            <a:r>
              <a:t>PHASE 1: Frontend SPA (Done ✅)  ──▶  PHASE 2: Backend &amp; DB (Next 🚀)  ──▶  PHASE 3: AI Engine &amp; Final Product (Vision 🌟)</a:t>
            </a:r>
          </a:p>
        </p:txBody>
      </p:sp>
      <p:sp>
        <p:nvSpPr>
          <p:cNvPr id="7" name="Rounded Rectangle 6"/>
          <p:cNvSpPr/>
          <p:nvPr/>
        </p:nvSpPr>
        <p:spPr>
          <a:xfrm>
            <a:off x="731520" y="2788920"/>
            <a:ext cx="5257800" cy="16916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26080"/>
            <a:ext cx="4892040" cy="1417320"/>
          </a:xfrm>
          <a:prstGeom prst="rect">
            <a:avLst/>
          </a:prstGeom>
          <a:noFill/>
        </p:spPr>
        <p:txBody>
          <a:bodyPr wrap="square">
            <a:spAutoFit/>
          </a:bodyPr>
          <a:lstStyle/>
          <a:p>
            <a:pPr>
              <a:spcAft>
                <a:spcPts val="400"/>
              </a:spcAft>
              <a:defRPr sz="1250" b="1">
                <a:solidFill>
                  <a:srgbClr val="F8FAFC"/>
                </a:solidFill>
              </a:defRPr>
            </a:pPr>
            <a:r>
              <a:t>🤖 Machine Learning Matching Engine</a:t>
            </a:r>
          </a:p>
          <a:p>
            <a:pPr>
              <a:defRPr sz="1000">
                <a:solidFill>
                  <a:srgbClr val="94A3B8"/>
                </a:solidFill>
              </a:defRPr>
            </a:pPr>
            <a:r>
              <a:t>Replacing rule-based heuristics with vector embeddings and ML models trained on real career transitions and industry job requisitions.</a:t>
            </a:r>
          </a:p>
        </p:txBody>
      </p:sp>
      <p:sp>
        <p:nvSpPr>
          <p:cNvPr id="9" name="Rounded Rectangle 8"/>
          <p:cNvSpPr/>
          <p:nvPr/>
        </p:nvSpPr>
        <p:spPr>
          <a:xfrm>
            <a:off x="6199632" y="2788920"/>
            <a:ext cx="5257800" cy="16916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2926080"/>
            <a:ext cx="4892040" cy="1417320"/>
          </a:xfrm>
          <a:prstGeom prst="rect">
            <a:avLst/>
          </a:prstGeom>
          <a:noFill/>
        </p:spPr>
        <p:txBody>
          <a:bodyPr wrap="square">
            <a:spAutoFit/>
          </a:bodyPr>
          <a:lstStyle/>
          <a:p>
            <a:pPr>
              <a:spcAft>
                <a:spcPts val="400"/>
              </a:spcAft>
              <a:defRPr sz="1250" b="1">
                <a:solidFill>
                  <a:srgbClr val="F8FAFC"/>
                </a:solidFill>
              </a:defRPr>
            </a:pPr>
            <a:r>
              <a:t>🗺️ Dynamic Degree &amp; Skill Roadmaps</a:t>
            </a:r>
          </a:p>
          <a:p>
            <a:pPr>
              <a:defRPr sz="1000">
                <a:solidFill>
                  <a:srgbClr val="94A3B8"/>
                </a:solidFill>
              </a:defRPr>
            </a:pPr>
            <a:r>
              <a:t>Personalized semester-by-semester roadmaps detailing recommended college degrees, online certifications, and milestone projects.</a:t>
            </a:r>
          </a:p>
        </p:txBody>
      </p:sp>
      <p:sp>
        <p:nvSpPr>
          <p:cNvPr id="11" name="Rounded Rectangle 10"/>
          <p:cNvSpPr/>
          <p:nvPr/>
        </p:nvSpPr>
        <p:spPr>
          <a:xfrm>
            <a:off x="731520" y="4663440"/>
            <a:ext cx="5257800" cy="16916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800600"/>
            <a:ext cx="4892040" cy="1417320"/>
          </a:xfrm>
          <a:prstGeom prst="rect">
            <a:avLst/>
          </a:prstGeom>
          <a:noFill/>
        </p:spPr>
        <p:txBody>
          <a:bodyPr wrap="square">
            <a:spAutoFit/>
          </a:bodyPr>
          <a:lstStyle/>
          <a:p>
            <a:pPr>
              <a:spcAft>
                <a:spcPts val="400"/>
              </a:spcAft>
              <a:defRPr sz="1250" b="1">
                <a:solidFill>
                  <a:srgbClr val="F8FAFC"/>
                </a:solidFill>
              </a:defRPr>
            </a:pPr>
            <a:r>
              <a:t>📊 Live Skill-Gap Analysis</a:t>
            </a:r>
          </a:p>
          <a:p>
            <a:pPr>
              <a:defRPr sz="1000">
                <a:solidFill>
                  <a:srgbClr val="94A3B8"/>
                </a:solidFill>
              </a:defRPr>
            </a:pPr>
            <a:r>
              <a:t>Direct comparison between student's current competencies and live industry job postings, recommending exact courses to close gaps.</a:t>
            </a:r>
          </a:p>
        </p:txBody>
      </p:sp>
      <p:sp>
        <p:nvSpPr>
          <p:cNvPr id="13" name="Rounded Rectangle 12"/>
          <p:cNvSpPr/>
          <p:nvPr/>
        </p:nvSpPr>
        <p:spPr>
          <a:xfrm>
            <a:off x="6199632" y="4663440"/>
            <a:ext cx="5257800" cy="169164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4800600"/>
            <a:ext cx="4892040" cy="1417320"/>
          </a:xfrm>
          <a:prstGeom prst="rect">
            <a:avLst/>
          </a:prstGeom>
          <a:noFill/>
        </p:spPr>
        <p:txBody>
          <a:bodyPr wrap="square">
            <a:spAutoFit/>
          </a:bodyPr>
          <a:lstStyle/>
          <a:p>
            <a:pPr>
              <a:spcAft>
                <a:spcPts val="400"/>
              </a:spcAft>
              <a:defRPr sz="1250" b="1">
                <a:solidFill>
                  <a:srgbClr val="F8FAFC"/>
                </a:solidFill>
              </a:defRPr>
            </a:pPr>
            <a:r>
              <a:t>👥 Mentor &amp; Industry Connect</a:t>
            </a:r>
          </a:p>
          <a:p>
            <a:pPr>
              <a:defRPr sz="1000">
                <a:solidFill>
                  <a:srgbClr val="94A3B8"/>
                </a:solidFill>
              </a:defRPr>
            </a:pPr>
            <a:r>
              <a:t>Direct integration with professional mentors, industry webinars, and real-time hiring trajectory statistics.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359152" cy="2743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950" b="1">
                <a:solidFill>
                  <a:srgbClr val="06B6D4"/>
                </a:solidFill>
                <a:latin typeface="Segoe UI"/>
              </a:defRPr>
            </a:pPr>
            <a:r>
              <a:t>EVALUATION SUMMARY</a:t>
            </a:r>
          </a:p>
        </p:txBody>
      </p:sp>
      <p:sp>
        <p:nvSpPr>
          <p:cNvPr id="4" name="TextBox 3"/>
          <p:cNvSpPr txBox="1"/>
          <p:nvPr/>
        </p:nvSpPr>
        <p:spPr>
          <a:xfrm>
            <a:off x="731520" y="749808"/>
            <a:ext cx="10728655" cy="868680"/>
          </a:xfrm>
          <a:prstGeom prst="rect">
            <a:avLst/>
          </a:prstGeom>
          <a:noFill/>
        </p:spPr>
        <p:txBody>
          <a:bodyPr wrap="square" lIns="0" tIns="0" rIns="0" bIns="0">
            <a:spAutoFit/>
          </a:bodyPr>
          <a:lstStyle/>
          <a:p>
            <a:pPr>
              <a:spcAft>
                <a:spcPts val="300"/>
              </a:spcAft>
              <a:defRPr sz="2200" b="1">
                <a:solidFill>
                  <a:srgbClr val="F8FAFC"/>
                </a:solidFill>
                <a:latin typeface="Segoe UI"/>
              </a:defRPr>
            </a:pPr>
            <a:r>
              <a:t>What We Have Achieved in Milestone 1</a:t>
            </a:r>
          </a:p>
          <a:p>
            <a:pPr>
              <a:defRPr sz="1150">
                <a:solidFill>
                  <a:srgbClr val="94A3B8"/>
                </a:solidFill>
                <a:latin typeface="Segoe UI"/>
              </a:defRPr>
            </a:pPr>
            <a:r>
              <a:t>A fully functional, verified, and responsive Single Page Application delivered on schedule.</a:t>
            </a:r>
          </a:p>
        </p:txBody>
      </p:sp>
      <p:sp>
        <p:nvSpPr>
          <p:cNvPr id="5" name="Rounded Rectangle 4"/>
          <p:cNvSpPr/>
          <p:nvPr/>
        </p:nvSpPr>
        <p:spPr>
          <a:xfrm>
            <a:off x="731520" y="1783080"/>
            <a:ext cx="3456432" cy="16002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920240"/>
            <a:ext cx="3127248" cy="1325880"/>
          </a:xfrm>
          <a:prstGeom prst="rect">
            <a:avLst/>
          </a:prstGeom>
          <a:noFill/>
        </p:spPr>
        <p:txBody>
          <a:bodyPr wrap="square">
            <a:spAutoFit/>
          </a:bodyPr>
          <a:lstStyle/>
          <a:p>
            <a:pPr>
              <a:spcAft>
                <a:spcPts val="400"/>
              </a:spcAft>
              <a:defRPr sz="1200" b="1">
                <a:solidFill>
                  <a:srgbClr val="10B981"/>
                </a:solidFill>
              </a:defRPr>
            </a:pPr>
            <a:r>
              <a:t>✔ Production-Ready UI</a:t>
            </a:r>
          </a:p>
          <a:p>
            <a:pPr>
              <a:defRPr sz="1000">
                <a:solidFill>
                  <a:srgbClr val="94A3B8"/>
                </a:solidFill>
              </a:defRPr>
            </a:pPr>
            <a:r>
              <a:t>Dark glassmorphism aesthetic, responsive across devices with clean CSS variables.</a:t>
            </a:r>
          </a:p>
        </p:txBody>
      </p:sp>
      <p:sp>
        <p:nvSpPr>
          <p:cNvPr id="7" name="Rounded Rectangle 6"/>
          <p:cNvSpPr/>
          <p:nvPr/>
        </p:nvSpPr>
        <p:spPr>
          <a:xfrm>
            <a:off x="4370832" y="1783080"/>
            <a:ext cx="3456432" cy="16002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920240"/>
            <a:ext cx="3127248" cy="1325880"/>
          </a:xfrm>
          <a:prstGeom prst="rect">
            <a:avLst/>
          </a:prstGeom>
          <a:noFill/>
        </p:spPr>
        <p:txBody>
          <a:bodyPr wrap="square">
            <a:spAutoFit/>
          </a:bodyPr>
          <a:lstStyle/>
          <a:p>
            <a:pPr>
              <a:spcAft>
                <a:spcPts val="400"/>
              </a:spcAft>
              <a:defRPr sz="1200" b="1">
                <a:solidFill>
                  <a:srgbClr val="10B981"/>
                </a:solidFill>
              </a:defRPr>
            </a:pPr>
            <a:r>
              <a:t>✔ 6-Step Assessment Wizard</a:t>
            </a:r>
          </a:p>
          <a:p>
            <a:pPr>
              <a:defRPr sz="1000">
                <a:solidFill>
                  <a:srgbClr val="94A3B8"/>
                </a:solidFill>
              </a:defRPr>
            </a:pPr>
            <a:r>
              <a:t>Guided form with validation, range sliders, progress indicator, and state lifting.</a:t>
            </a:r>
          </a:p>
        </p:txBody>
      </p:sp>
      <p:sp>
        <p:nvSpPr>
          <p:cNvPr id="9" name="Rounded Rectangle 8"/>
          <p:cNvSpPr/>
          <p:nvPr/>
        </p:nvSpPr>
        <p:spPr>
          <a:xfrm>
            <a:off x="8010144" y="1783080"/>
            <a:ext cx="3456432" cy="16002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1920240"/>
            <a:ext cx="3127248" cy="1325880"/>
          </a:xfrm>
          <a:prstGeom prst="rect">
            <a:avLst/>
          </a:prstGeom>
          <a:noFill/>
        </p:spPr>
        <p:txBody>
          <a:bodyPr wrap="square">
            <a:spAutoFit/>
          </a:bodyPr>
          <a:lstStyle/>
          <a:p>
            <a:pPr>
              <a:spcAft>
                <a:spcPts val="400"/>
              </a:spcAft>
              <a:defRPr sz="1200" b="1">
                <a:solidFill>
                  <a:srgbClr val="10B981"/>
                </a:solidFill>
              </a:defRPr>
            </a:pPr>
            <a:r>
              <a:t>✔ Algorithmic Matching Logic</a:t>
            </a:r>
          </a:p>
          <a:p>
            <a:pPr>
              <a:defRPr sz="1000">
                <a:solidFill>
                  <a:srgbClr val="94A3B8"/>
                </a:solidFill>
              </a:defRPr>
            </a:pPr>
            <a:r>
              <a:t>Transparent weighted compatibility scoring calculating affinity from 0% to 100%.</a:t>
            </a:r>
          </a:p>
        </p:txBody>
      </p:sp>
      <p:sp>
        <p:nvSpPr>
          <p:cNvPr id="11" name="Rounded Rectangle 10"/>
          <p:cNvSpPr/>
          <p:nvPr/>
        </p:nvSpPr>
        <p:spPr>
          <a:xfrm>
            <a:off x="731520" y="3566160"/>
            <a:ext cx="3456432" cy="16002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703320"/>
            <a:ext cx="3127248" cy="1325880"/>
          </a:xfrm>
          <a:prstGeom prst="rect">
            <a:avLst/>
          </a:prstGeom>
          <a:noFill/>
        </p:spPr>
        <p:txBody>
          <a:bodyPr wrap="square">
            <a:spAutoFit/>
          </a:bodyPr>
          <a:lstStyle/>
          <a:p>
            <a:pPr>
              <a:spcAft>
                <a:spcPts val="400"/>
              </a:spcAft>
              <a:defRPr sz="1200" b="1">
                <a:solidFill>
                  <a:srgbClr val="10B981"/>
                </a:solidFill>
              </a:defRPr>
            </a:pPr>
            <a:r>
              <a:t>✔ Secured User Dashboard</a:t>
            </a:r>
          </a:p>
          <a:p>
            <a:pPr>
              <a:defRPr sz="1000">
                <a:solidFill>
                  <a:srgbClr val="94A3B8"/>
                </a:solidFill>
              </a:defRPr>
            </a:pPr>
            <a:r>
              <a:t>Protected workspace with career journey tracking, saved bookmarks, and profile editing.</a:t>
            </a:r>
          </a:p>
        </p:txBody>
      </p:sp>
      <p:sp>
        <p:nvSpPr>
          <p:cNvPr id="13" name="Rounded Rectangle 12"/>
          <p:cNvSpPr/>
          <p:nvPr/>
        </p:nvSpPr>
        <p:spPr>
          <a:xfrm>
            <a:off x="4370832" y="3566160"/>
            <a:ext cx="3456432" cy="16002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3703320"/>
            <a:ext cx="3127248" cy="1325880"/>
          </a:xfrm>
          <a:prstGeom prst="rect">
            <a:avLst/>
          </a:prstGeom>
          <a:noFill/>
        </p:spPr>
        <p:txBody>
          <a:bodyPr wrap="square">
            <a:spAutoFit/>
          </a:bodyPr>
          <a:lstStyle/>
          <a:p>
            <a:pPr>
              <a:spcAft>
                <a:spcPts val="400"/>
              </a:spcAft>
              <a:defRPr sz="1200" b="1">
                <a:solidFill>
                  <a:srgbClr val="10B981"/>
                </a:solidFill>
              </a:defRPr>
            </a:pPr>
            <a:r>
              <a:t>✔ Asynchronous API Fetch</a:t>
            </a:r>
          </a:p>
          <a:p>
            <a:pPr>
              <a:defRPr sz="1000">
                <a:solidFill>
                  <a:srgbClr val="94A3B8"/>
                </a:solidFill>
              </a:defRPr>
            </a:pPr>
            <a:r>
              <a:t>Live Career Inspiration widget with loading spinner, error catch, and retry controls.</a:t>
            </a:r>
          </a:p>
        </p:txBody>
      </p:sp>
      <p:sp>
        <p:nvSpPr>
          <p:cNvPr id="15" name="Rounded Rectangle 14"/>
          <p:cNvSpPr/>
          <p:nvPr/>
        </p:nvSpPr>
        <p:spPr>
          <a:xfrm>
            <a:off x="8010144" y="3566160"/>
            <a:ext cx="3456432" cy="1600200"/>
          </a:xfrm>
          <a:prstGeom prst="roundRect">
            <a:avLst/>
          </a:prstGeom>
          <a:solidFill>
            <a:srgbClr val="161F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6" y="3703320"/>
            <a:ext cx="3127248" cy="1325880"/>
          </a:xfrm>
          <a:prstGeom prst="rect">
            <a:avLst/>
          </a:prstGeom>
          <a:noFill/>
        </p:spPr>
        <p:txBody>
          <a:bodyPr wrap="square">
            <a:spAutoFit/>
          </a:bodyPr>
          <a:lstStyle/>
          <a:p>
            <a:pPr>
              <a:spcAft>
                <a:spcPts val="400"/>
              </a:spcAft>
              <a:defRPr sz="1200" b="1">
                <a:solidFill>
                  <a:srgbClr val="10B981"/>
                </a:solidFill>
              </a:defRPr>
            </a:pPr>
            <a:r>
              <a:t>✔ Zero-Defect Codebase</a:t>
            </a:r>
          </a:p>
          <a:p>
            <a:pPr>
              <a:defRPr sz="1000">
                <a:solidFill>
                  <a:srgbClr val="94A3B8"/>
                </a:solidFill>
              </a:defRPr>
            </a:pPr>
            <a:r>
              <a:t>Vite production build verified passing in ~300ms with 0 errors and 0 warnings.</a:t>
            </a:r>
          </a:p>
        </p:txBody>
      </p:sp>
      <p:sp>
        <p:nvSpPr>
          <p:cNvPr id="17" name="Rounded Rectangle 16"/>
          <p:cNvSpPr/>
          <p:nvPr/>
        </p:nvSpPr>
        <p:spPr>
          <a:xfrm>
            <a:off x="731520" y="5486400"/>
            <a:ext cx="10728655" cy="822960"/>
          </a:xfrm>
          <a:prstGeom prst="roundRect">
            <a:avLst/>
          </a:prstGeom>
          <a:solidFill>
            <a:srgbClr val="1C283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77840"/>
            <a:ext cx="10362895" cy="640080"/>
          </a:xfrm>
          <a:prstGeom prst="rect">
            <a:avLst/>
          </a:prstGeom>
          <a:noFill/>
        </p:spPr>
        <p:txBody>
          <a:bodyPr wrap="square">
            <a:spAutoFit/>
          </a:bodyPr>
          <a:lstStyle/>
          <a:p>
            <a:pPr>
              <a:defRPr sz="1150" b="1">
                <a:solidFill>
                  <a:srgbClr val="06B6D4"/>
                </a:solidFill>
              </a:defRPr>
            </a:pPr>
            <a:r>
              <a:t>🎯 Conclusion: AVENZA establishes a robust architectural foundation for student career guidance. Milestone 1 delivers a complete, verified frontend experience, setting the stage for full-stack maturity in Milestones 2 &amp;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1097280"/>
            <a:ext cx="8899855" cy="4663440"/>
          </a:xfrm>
          <a:prstGeom prst="roundRect">
            <a:avLst/>
          </a:prstGeom>
          <a:solidFill>
            <a:srgbClr val="101828"/>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0"/>
            <a:ext cx="8168335" cy="3931920"/>
          </a:xfrm>
          <a:prstGeom prst="rect">
            <a:avLst/>
          </a:prstGeom>
          <a:noFill/>
        </p:spPr>
        <p:txBody>
          <a:bodyPr wrap="square">
            <a:spAutoFit/>
          </a:bodyPr>
          <a:lstStyle/>
          <a:p>
            <a:pPr algn="ctr">
              <a:spcAft>
                <a:spcPts val="400"/>
              </a:spcAft>
              <a:defRPr sz="4400" b="1">
                <a:solidFill>
                  <a:srgbClr val="F8FAFC"/>
                </a:solidFill>
              </a:defRPr>
            </a:pPr>
            <a:r>
              <a:t>AVENZA</a:t>
            </a:r>
          </a:p>
          <a:p>
            <a:pPr algn="ctr">
              <a:spcAft>
                <a:spcPts val="2000"/>
              </a:spcAft>
              <a:defRPr sz="1800">
                <a:solidFill>
                  <a:srgbClr val="06B6D4"/>
                </a:solidFill>
              </a:defRPr>
            </a:pPr>
            <a:r>
              <a:t>Discover Your Path. Build Your Future.</a:t>
            </a:r>
          </a:p>
          <a:p>
            <a:pPr algn="ctr">
              <a:spcAft>
                <a:spcPts val="800"/>
              </a:spcAft>
              <a:defRPr sz="2200" b="1">
                <a:solidFill>
                  <a:srgbClr val="F8FAFC"/>
                </a:solidFill>
              </a:defRPr>
            </a:pPr>
            <a:r>
              <a:t>Thank You for Your Time &amp; Guidance</a:t>
            </a:r>
          </a:p>
          <a:p>
            <a:pPr algn="ctr">
              <a:spcAft>
                <a:spcPts val="2000"/>
              </a:spcAft>
              <a:defRPr sz="1200">
                <a:solidFill>
                  <a:srgbClr val="94A3B8"/>
                </a:solidFill>
              </a:defRPr>
            </a:pPr>
            <a:r>
              <a:t>Project Based Evaluation – 1  •  Department of Computer Science &amp; Engineering</a:t>
            </a:r>
          </a:p>
          <a:p>
            <a:pPr algn="ctr">
              <a:defRPr sz="1300" b="1">
                <a:solidFill>
                  <a:srgbClr val="10B981"/>
                </a:solidFill>
              </a:defRPr>
            </a:pPr>
            <a:r>
              <a:t>💬 We are now open for Questions, Feedback, and Evaluator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